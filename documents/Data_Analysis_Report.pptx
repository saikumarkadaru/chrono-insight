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Epilogue" panose="020B0604020202020204" charset="0"/>
      <p:regular r:id="rId11"/>
    </p:embeddedFont>
    <p:embeddedFont>
      <p:font typeface="Fraunces Medium"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011"/>
    <a:srgbClr val="080E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792"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909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codesandbox.io/p/live/16d2764e-f4b2-4220-919b-2a14c803a0b5" TargetMode="Externa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D9E79B26-CF2F-B60C-0A1A-2D53A11BD629}"/>
              </a:ext>
            </a:extLst>
          </p:cNvPr>
          <p:cNvPicPr>
            <a:picLocks noChangeAspect="1"/>
          </p:cNvPicPr>
          <p:nvPr/>
        </p:nvPicPr>
        <p:blipFill>
          <a:blip r:embed="rId3"/>
          <a:srcRect b="37776"/>
          <a:stretch>
            <a:fillRect/>
          </a:stretch>
        </p:blipFill>
        <p:spPr>
          <a:xfrm>
            <a:off x="4790714" y="989769"/>
            <a:ext cx="9163218" cy="3521200"/>
          </a:xfrm>
          <a:prstGeom prst="rect">
            <a:avLst/>
          </a:prstGeom>
        </p:spPr>
      </p:pic>
      <p:sp>
        <p:nvSpPr>
          <p:cNvPr id="2" name="Text 0"/>
          <p:cNvSpPr/>
          <p:nvPr/>
        </p:nvSpPr>
        <p:spPr>
          <a:xfrm>
            <a:off x="577938" y="229621"/>
            <a:ext cx="13065919" cy="1222296"/>
          </a:xfrm>
          <a:prstGeom prst="rect">
            <a:avLst/>
          </a:prstGeom>
          <a:noFill/>
          <a:ln/>
        </p:spPr>
        <p:txBody>
          <a:bodyPr wrap="square" lIns="0" tIns="0" rIns="0" bIns="0" rtlCol="0" anchor="t"/>
          <a:lstStyle/>
          <a:p>
            <a:pPr marL="0" indent="0" algn="l">
              <a:lnSpc>
                <a:spcPts val="4800"/>
              </a:lnSpc>
              <a:buNone/>
            </a:pPr>
            <a:r>
              <a:rPr lang="en-US" sz="3600" dirty="0">
                <a:solidFill>
                  <a:srgbClr val="FFFFFF"/>
                </a:solidFill>
                <a:latin typeface="Fraunces Medium" pitchFamily="34" charset="0"/>
                <a:ea typeface="Fraunces Medium" pitchFamily="34" charset="-122"/>
                <a:cs typeface="Fraunces Medium" pitchFamily="34" charset="-120"/>
              </a:rPr>
              <a:t>Chrono-Insight Overview: High-Fidelity Filtering &amp; Exploration</a:t>
            </a:r>
            <a:endParaRPr lang="en-US" sz="3600" dirty="0"/>
          </a:p>
        </p:txBody>
      </p:sp>
      <p:grpSp>
        <p:nvGrpSpPr>
          <p:cNvPr id="21" name="Group 20">
            <a:extLst>
              <a:ext uri="{FF2B5EF4-FFF2-40B4-BE49-F238E27FC236}">
                <a16:creationId xmlns:a16="http://schemas.microsoft.com/office/drawing/2014/main" id="{FC1B4B3E-9413-7F21-7BF5-CA55731F3C00}"/>
              </a:ext>
            </a:extLst>
          </p:cNvPr>
          <p:cNvGrpSpPr/>
          <p:nvPr/>
        </p:nvGrpSpPr>
        <p:grpSpPr>
          <a:xfrm>
            <a:off x="320869" y="1831068"/>
            <a:ext cx="8022181" cy="5873914"/>
            <a:chOff x="-740851" y="-968243"/>
            <a:chExt cx="8713946" cy="6869530"/>
          </a:xfrm>
        </p:grpSpPr>
        <p:sp>
          <p:nvSpPr>
            <p:cNvPr id="3" name="Shape 1"/>
            <p:cNvSpPr/>
            <p:nvPr/>
          </p:nvSpPr>
          <p:spPr>
            <a:xfrm>
              <a:off x="-717991" y="-968243"/>
              <a:ext cx="4224933" cy="3362682"/>
            </a:xfrm>
            <a:prstGeom prst="roundRect">
              <a:avLst>
                <a:gd name="adj" fmla="val 3263"/>
              </a:avLst>
            </a:prstGeom>
            <a:solidFill>
              <a:srgbClr val="080E26"/>
            </a:solidFill>
            <a:ln w="22860">
              <a:solidFill>
                <a:srgbClr val="414A70"/>
              </a:solidFill>
              <a:prstDash val="solid"/>
            </a:ln>
          </p:spPr>
        </p:sp>
        <p:sp>
          <p:nvSpPr>
            <p:cNvPr id="4" name="Shape 2"/>
            <p:cNvSpPr/>
            <p:nvPr/>
          </p:nvSpPr>
          <p:spPr>
            <a:xfrm>
              <a:off x="-740851" y="-968243"/>
              <a:ext cx="91440" cy="3362682"/>
            </a:xfrm>
            <a:prstGeom prst="roundRect">
              <a:avLst>
                <a:gd name="adj" fmla="val 89832"/>
              </a:avLst>
            </a:prstGeom>
            <a:solidFill>
              <a:srgbClr val="8C98CA"/>
            </a:solidFill>
            <a:ln/>
          </p:spPr>
        </p:sp>
        <p:sp>
          <p:nvSpPr>
            <p:cNvPr id="5" name="Text 3"/>
            <p:cNvSpPr/>
            <p:nvPr/>
          </p:nvSpPr>
          <p:spPr>
            <a:xfrm>
              <a:off x="-431051" y="-749883"/>
              <a:ext cx="2532817" cy="305514"/>
            </a:xfrm>
            <a:prstGeom prst="rect">
              <a:avLst/>
            </a:prstGeom>
            <a:noFill/>
            <a:ln/>
          </p:spPr>
          <p:txBody>
            <a:bodyPr wrap="none" lIns="0" tIns="0" rIns="0" bIns="0" rtlCol="0" anchor="t"/>
            <a:lstStyle/>
            <a:p>
              <a:pPr marL="0" indent="0" algn="l">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Filtering Architecture</a:t>
              </a:r>
              <a:endParaRPr lang="en-US" sz="1900" dirty="0"/>
            </a:p>
          </p:txBody>
        </p:sp>
        <p:sp>
          <p:nvSpPr>
            <p:cNvPr id="6" name="Text 4"/>
            <p:cNvSpPr/>
            <p:nvPr/>
          </p:nvSpPr>
          <p:spPr>
            <a:xfrm>
              <a:off x="-431051" y="-327092"/>
              <a:ext cx="3719631" cy="2190273"/>
            </a:xfrm>
            <a:prstGeom prst="rect">
              <a:avLst/>
            </a:prstGeom>
            <a:noFill/>
            <a:ln/>
          </p:spPr>
          <p:txBody>
            <a:bodyPr wrap="square" lIns="0" tIns="0" rIns="0" bIns="0" rtlCol="0" anchor="t"/>
            <a:lstStyle/>
            <a:p>
              <a:pPr marL="0" indent="0" algn="l">
                <a:lnSpc>
                  <a:spcPts val="2450"/>
                </a:lnSpc>
                <a:buNone/>
              </a:pPr>
              <a:r>
                <a:rPr lang="en-US" sz="1200" dirty="0">
                  <a:solidFill>
                    <a:srgbClr val="EBECEF"/>
                  </a:solidFill>
                  <a:latin typeface="Epilogue" pitchFamily="34" charset="0"/>
                  <a:ea typeface="Epilogue" pitchFamily="34" charset="-122"/>
                  <a:cs typeface="Epilogue" pitchFamily="34" charset="-120"/>
                </a:rPr>
                <a:t>The dashboard utilizes a rigorous </a:t>
              </a:r>
              <a:r>
                <a:rPr lang="en-US" sz="1200" dirty="0">
                  <a:solidFill>
                    <a:srgbClr val="8C98CA"/>
                  </a:solidFill>
                  <a:latin typeface="Epilogue" pitchFamily="34" charset="0"/>
                  <a:ea typeface="Epilogue" pitchFamily="34" charset="-122"/>
                  <a:cs typeface="Epilogue" pitchFamily="34" charset="-120"/>
                </a:rPr>
                <a:t>similarity score filter</a:t>
              </a:r>
              <a:r>
                <a:rPr lang="en-US" sz="1200" dirty="0">
                  <a:solidFill>
                    <a:srgbClr val="EBECEF"/>
                  </a:solidFill>
                  <a:latin typeface="Epilogue" pitchFamily="34" charset="0"/>
                  <a:ea typeface="Epilogue" pitchFamily="34" charset="-122"/>
                  <a:cs typeface="Epilogue" pitchFamily="34" charset="-120"/>
                </a:rPr>
                <a:t> (visualized in the scatter plot) to isolate high-relevance data points (Score &gt; 0.40). This ensures noise reduction, presenting only the most pertinent information for analysis.</a:t>
              </a:r>
              <a:endParaRPr lang="en-US" sz="1200" dirty="0"/>
            </a:p>
          </p:txBody>
        </p:sp>
        <p:sp>
          <p:nvSpPr>
            <p:cNvPr id="7" name="Shape 5"/>
            <p:cNvSpPr/>
            <p:nvPr/>
          </p:nvSpPr>
          <p:spPr>
            <a:xfrm>
              <a:off x="-717991" y="2538605"/>
              <a:ext cx="4224933" cy="3362682"/>
            </a:xfrm>
            <a:prstGeom prst="roundRect">
              <a:avLst>
                <a:gd name="adj" fmla="val 3263"/>
              </a:avLst>
            </a:prstGeom>
            <a:solidFill>
              <a:srgbClr val="080E26"/>
            </a:solidFill>
            <a:ln w="22860">
              <a:solidFill>
                <a:srgbClr val="414A70"/>
              </a:solidFill>
              <a:prstDash val="solid"/>
            </a:ln>
          </p:spPr>
          <p:txBody>
            <a:bodyPr/>
            <a:lstStyle/>
            <a:p>
              <a:endParaRPr lang="en-IN" dirty="0"/>
            </a:p>
          </p:txBody>
        </p:sp>
        <p:sp>
          <p:nvSpPr>
            <p:cNvPr id="8" name="Shape 6"/>
            <p:cNvSpPr/>
            <p:nvPr/>
          </p:nvSpPr>
          <p:spPr>
            <a:xfrm>
              <a:off x="-740851" y="2538605"/>
              <a:ext cx="91440" cy="3362682"/>
            </a:xfrm>
            <a:prstGeom prst="roundRect">
              <a:avLst>
                <a:gd name="adj" fmla="val 89832"/>
              </a:avLst>
            </a:prstGeom>
            <a:solidFill>
              <a:srgbClr val="8C98CA"/>
            </a:solidFill>
            <a:ln/>
          </p:spPr>
        </p:sp>
        <p:sp>
          <p:nvSpPr>
            <p:cNvPr id="9" name="Text 7"/>
            <p:cNvSpPr/>
            <p:nvPr/>
          </p:nvSpPr>
          <p:spPr>
            <a:xfrm>
              <a:off x="-431050" y="2756967"/>
              <a:ext cx="3129558" cy="305514"/>
            </a:xfrm>
            <a:prstGeom prst="rect">
              <a:avLst/>
            </a:prstGeom>
            <a:noFill/>
            <a:ln/>
          </p:spPr>
          <p:txBody>
            <a:bodyPr wrap="none" lIns="0" tIns="0" rIns="0" bIns="0" rtlCol="0" anchor="t"/>
            <a:lstStyle/>
            <a:p>
              <a:pPr marL="0" indent="0" algn="l">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Concise &amp; Specific Insights</a:t>
              </a:r>
              <a:endParaRPr lang="en-US" sz="1900" dirty="0"/>
            </a:p>
          </p:txBody>
        </p:sp>
        <p:sp>
          <p:nvSpPr>
            <p:cNvPr id="10" name="Text 8"/>
            <p:cNvSpPr/>
            <p:nvPr/>
          </p:nvSpPr>
          <p:spPr>
            <a:xfrm>
              <a:off x="-431050" y="3179758"/>
              <a:ext cx="3719631" cy="2503170"/>
            </a:xfrm>
            <a:prstGeom prst="rect">
              <a:avLst/>
            </a:prstGeom>
            <a:noFill/>
            <a:ln/>
          </p:spPr>
          <p:txBody>
            <a:bodyPr wrap="square" lIns="0" tIns="0" rIns="0" bIns="0" rtlCol="0" anchor="t"/>
            <a:lstStyle/>
            <a:p>
              <a:pPr marL="0" indent="0" algn="l">
                <a:lnSpc>
                  <a:spcPts val="2450"/>
                </a:lnSpc>
                <a:buNone/>
              </a:pPr>
              <a:r>
                <a:rPr lang="en-US" sz="1200" dirty="0">
                  <a:solidFill>
                    <a:srgbClr val="EBECEF"/>
                  </a:solidFill>
                  <a:latin typeface="Epilogue" pitchFamily="34" charset="0"/>
                  <a:ea typeface="Epilogue" pitchFamily="34" charset="-122"/>
                  <a:cs typeface="Epilogue" pitchFamily="34" charset="-120"/>
                </a:rPr>
                <a:t>The scatter plot clearly reveals a strong correlation between sentence length and AI relevance. This allows us to specifically target insights that are "concise and highly specific," making them ideal for immediate, actionable reporting and strategic decision-making.</a:t>
              </a:r>
              <a:endParaRPr lang="en-US" sz="1200" dirty="0"/>
            </a:p>
          </p:txBody>
        </p:sp>
        <p:sp>
          <p:nvSpPr>
            <p:cNvPr id="11" name="Shape 9"/>
            <p:cNvSpPr/>
            <p:nvPr/>
          </p:nvSpPr>
          <p:spPr>
            <a:xfrm>
              <a:off x="3748162" y="2520480"/>
              <a:ext cx="4224933" cy="3362682"/>
            </a:xfrm>
            <a:prstGeom prst="roundRect">
              <a:avLst>
                <a:gd name="adj" fmla="val 3263"/>
              </a:avLst>
            </a:prstGeom>
            <a:solidFill>
              <a:srgbClr val="080E26"/>
            </a:solidFill>
            <a:ln w="22860">
              <a:solidFill>
                <a:srgbClr val="414A70"/>
              </a:solidFill>
              <a:prstDash val="solid"/>
            </a:ln>
          </p:spPr>
          <p:txBody>
            <a:bodyPr/>
            <a:lstStyle/>
            <a:p>
              <a:endParaRPr lang="en-IN" dirty="0"/>
            </a:p>
          </p:txBody>
        </p:sp>
        <p:sp>
          <p:nvSpPr>
            <p:cNvPr id="12" name="Shape 10"/>
            <p:cNvSpPr/>
            <p:nvPr/>
          </p:nvSpPr>
          <p:spPr>
            <a:xfrm>
              <a:off x="3725303" y="2520480"/>
              <a:ext cx="91440" cy="3362682"/>
            </a:xfrm>
            <a:prstGeom prst="roundRect">
              <a:avLst>
                <a:gd name="adj" fmla="val 89832"/>
              </a:avLst>
            </a:prstGeom>
            <a:solidFill>
              <a:srgbClr val="8C98CA"/>
            </a:solidFill>
            <a:ln/>
          </p:spPr>
        </p:sp>
        <p:sp>
          <p:nvSpPr>
            <p:cNvPr id="22" name="Text 11">
              <a:extLst>
                <a:ext uri="{FF2B5EF4-FFF2-40B4-BE49-F238E27FC236}">
                  <a16:creationId xmlns:a16="http://schemas.microsoft.com/office/drawing/2014/main" id="{45A4C2A6-3A73-AD19-F164-05F3D9F865D9}"/>
                </a:ext>
              </a:extLst>
            </p:cNvPr>
            <p:cNvSpPr/>
            <p:nvPr/>
          </p:nvSpPr>
          <p:spPr>
            <a:xfrm>
              <a:off x="3989383" y="2701060"/>
              <a:ext cx="3243858" cy="305514"/>
            </a:xfrm>
            <a:prstGeom prst="rect">
              <a:avLst/>
            </a:prstGeom>
            <a:noFill/>
            <a:ln/>
          </p:spPr>
          <p:txBody>
            <a:bodyPr wrap="none" lIns="0" tIns="0" rIns="0" bIns="0" rtlCol="0" anchor="t"/>
            <a:lstStyle/>
            <a:p>
              <a:pPr marL="0" indent="0" algn="l">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Positive Impact Assessment</a:t>
              </a:r>
              <a:endParaRPr lang="en-US" sz="1900" dirty="0"/>
            </a:p>
          </p:txBody>
        </p:sp>
        <p:sp>
          <p:nvSpPr>
            <p:cNvPr id="23" name="Text 12">
              <a:extLst>
                <a:ext uri="{FF2B5EF4-FFF2-40B4-BE49-F238E27FC236}">
                  <a16:creationId xmlns:a16="http://schemas.microsoft.com/office/drawing/2014/main" id="{EF4A4421-0B02-90E4-F466-EC79202181F4}"/>
                </a:ext>
              </a:extLst>
            </p:cNvPr>
            <p:cNvSpPr/>
            <p:nvPr/>
          </p:nvSpPr>
          <p:spPr>
            <a:xfrm>
              <a:off x="3989383" y="3123850"/>
              <a:ext cx="3719631" cy="2503170"/>
            </a:xfrm>
            <a:prstGeom prst="rect">
              <a:avLst/>
            </a:prstGeom>
            <a:noFill/>
            <a:ln/>
          </p:spPr>
          <p:txBody>
            <a:bodyPr wrap="square" lIns="0" tIns="0" rIns="0" bIns="0" rtlCol="0" anchor="t"/>
            <a:lstStyle/>
            <a:p>
              <a:pPr marL="0" indent="0" algn="l">
                <a:lnSpc>
                  <a:spcPts val="2450"/>
                </a:lnSpc>
                <a:buNone/>
              </a:pPr>
              <a:r>
                <a:rPr lang="en-US" sz="1200" dirty="0">
                  <a:solidFill>
                    <a:srgbClr val="EBECEF"/>
                  </a:solidFill>
                  <a:latin typeface="Epilogue" pitchFamily="34" charset="0"/>
                  <a:ea typeface="Epilogue" pitchFamily="34" charset="-122"/>
                  <a:cs typeface="Epilogue" pitchFamily="34" charset="-120"/>
                </a:rPr>
                <a:t>The Detailed View table, typically integrated with the Explorer, demonstrates that the articles predominantly discuss the impacts of AI in a positive light. This is evident from the vast majority of neutral and positive impacts denoted in the sentence explorer graph.</a:t>
              </a:r>
              <a:endParaRPr lang="en-US" sz="1200" dirty="0"/>
            </a:p>
          </p:txBody>
        </p:sp>
      </p:grpSp>
      <p:grpSp>
        <p:nvGrpSpPr>
          <p:cNvPr id="26" name="Group 25">
            <a:extLst>
              <a:ext uri="{FF2B5EF4-FFF2-40B4-BE49-F238E27FC236}">
                <a16:creationId xmlns:a16="http://schemas.microsoft.com/office/drawing/2014/main" id="{09DB1B8B-342A-8BDD-CD7F-8ED9F8F8D5E3}"/>
              </a:ext>
            </a:extLst>
          </p:cNvPr>
          <p:cNvGrpSpPr/>
          <p:nvPr/>
        </p:nvGrpSpPr>
        <p:grpSpPr>
          <a:xfrm>
            <a:off x="8501985" y="4814162"/>
            <a:ext cx="6039389" cy="2875321"/>
            <a:chOff x="8591011" y="4380480"/>
            <a:chExt cx="9587658" cy="1482239"/>
          </a:xfrm>
        </p:grpSpPr>
        <p:sp>
          <p:nvSpPr>
            <p:cNvPr id="15" name="Shape 13"/>
            <p:cNvSpPr/>
            <p:nvPr/>
          </p:nvSpPr>
          <p:spPr>
            <a:xfrm>
              <a:off x="8591011" y="4380480"/>
              <a:ext cx="9587658" cy="1482239"/>
            </a:xfrm>
            <a:prstGeom prst="roundRect">
              <a:avLst>
                <a:gd name="adj" fmla="val 4196"/>
              </a:avLst>
            </a:prstGeom>
            <a:solidFill>
              <a:srgbClr val="181E34"/>
            </a:solidFill>
            <a:ln/>
          </p:spPr>
          <p:txBody>
            <a:bodyPr/>
            <a:lstStyle/>
            <a:p>
              <a:endParaRPr lang="en-IN" dirty="0"/>
            </a:p>
          </p:txBody>
        </p:sp>
        <p:sp>
          <p:nvSpPr>
            <p:cNvPr id="17" name="Text 14"/>
            <p:cNvSpPr/>
            <p:nvPr/>
          </p:nvSpPr>
          <p:spPr>
            <a:xfrm>
              <a:off x="9102108" y="4543469"/>
              <a:ext cx="1804129" cy="203815"/>
            </a:xfrm>
            <a:prstGeom prst="rect">
              <a:avLst/>
            </a:prstGeom>
            <a:noFill/>
            <a:ln/>
          </p:spPr>
          <p:txBody>
            <a:bodyPr wrap="none" lIns="0" tIns="0" rIns="0" bIns="0" rtlCol="0" anchor="t"/>
            <a:lstStyle/>
            <a:p>
              <a:pPr marL="0" indent="0" algn="l">
                <a:lnSpc>
                  <a:spcPts val="2400"/>
                </a:lnSpc>
                <a:buNone/>
              </a:pPr>
              <a:r>
                <a:rPr lang="en-US" sz="1600" dirty="0">
                  <a:solidFill>
                    <a:srgbClr val="FFFFFF"/>
                  </a:solidFill>
                  <a:latin typeface="Fraunces Medium" pitchFamily="34" charset="0"/>
                  <a:ea typeface="Fraunces Medium" pitchFamily="34" charset="-122"/>
                  <a:cs typeface="Fraunces Medium" pitchFamily="34" charset="-120"/>
                </a:rPr>
                <a:t>Strategic Implication</a:t>
              </a:r>
              <a:endParaRPr lang="en-US" sz="1600" dirty="0"/>
            </a:p>
          </p:txBody>
        </p:sp>
        <p:sp>
          <p:nvSpPr>
            <p:cNvPr id="18" name="Text 15"/>
            <p:cNvSpPr/>
            <p:nvPr/>
          </p:nvSpPr>
          <p:spPr>
            <a:xfrm>
              <a:off x="9102108" y="4877707"/>
              <a:ext cx="8933104" cy="626220"/>
            </a:xfrm>
            <a:prstGeom prst="rect">
              <a:avLst/>
            </a:prstGeom>
            <a:noFill/>
            <a:ln/>
          </p:spPr>
          <p:txBody>
            <a:bodyPr wrap="square" lIns="0" tIns="0" rIns="0" bIns="0" rtlCol="0" anchor="t"/>
            <a:lstStyle/>
            <a:p>
              <a:pPr marL="0" indent="0" algn="l">
                <a:lnSpc>
                  <a:spcPts val="2450"/>
                </a:lnSpc>
                <a:buNone/>
              </a:pPr>
              <a:r>
                <a:rPr lang="en-US" sz="1200" dirty="0">
                  <a:solidFill>
                    <a:srgbClr val="FFFFFF"/>
                  </a:solidFill>
                  <a:latin typeface="Epilogue" pitchFamily="34" charset="0"/>
                  <a:ea typeface="Epilogue" pitchFamily="34" charset="-122"/>
                  <a:cs typeface="Epilogue" pitchFamily="34" charset="-120"/>
                </a:rPr>
                <a:t>The distinct clustering of Neutral/Positive sentiment in the 0.45–0.60 similarity range indicates that the textual data is highly relevant to the topic of AI. Moreover, the graph shows that the majority of insights are either neutral or positive, signaling a generally optimistic outlook on AI's implications.</a:t>
              </a:r>
              <a:endParaRPr lang="en-US" sz="1200" dirty="0"/>
            </a:p>
          </p:txBody>
        </p:sp>
      </p:grpSp>
      <p:pic>
        <p:nvPicPr>
          <p:cNvPr id="16" name="Image 0" descr="preencoded.png"/>
          <p:cNvPicPr>
            <a:picLocks noChangeAspect="1"/>
          </p:cNvPicPr>
          <p:nvPr/>
        </p:nvPicPr>
        <p:blipFill>
          <a:blip r:embed="rId4"/>
          <a:stretch>
            <a:fillRect/>
          </a:stretch>
        </p:blipFill>
        <p:spPr>
          <a:xfrm>
            <a:off x="8543508" y="5206971"/>
            <a:ext cx="280204" cy="203815"/>
          </a:xfrm>
          <a:prstGeom prst="rect">
            <a:avLst/>
          </a:prstGeom>
        </p:spPr>
      </p:pic>
      <p:sp>
        <p:nvSpPr>
          <p:cNvPr id="19" name="Rectangle 18">
            <a:extLst>
              <a:ext uri="{FF2B5EF4-FFF2-40B4-BE49-F238E27FC236}">
                <a16:creationId xmlns:a16="http://schemas.microsoft.com/office/drawing/2014/main" id="{9908ED37-A654-6D28-3C51-790CF34D998C}"/>
              </a:ext>
            </a:extLst>
          </p:cNvPr>
          <p:cNvSpPr/>
          <p:nvPr/>
        </p:nvSpPr>
        <p:spPr>
          <a:xfrm>
            <a:off x="12821697" y="7797520"/>
            <a:ext cx="1678074" cy="365761"/>
          </a:xfrm>
          <a:prstGeom prst="rect">
            <a:avLst/>
          </a:prstGeom>
          <a:solidFill>
            <a:srgbClr val="080E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10727" y="77760"/>
            <a:ext cx="11733133" cy="495657"/>
          </a:xfrm>
          <a:prstGeom prst="rect">
            <a:avLst/>
          </a:prstGeom>
          <a:noFill/>
          <a:ln/>
        </p:spPr>
        <p:txBody>
          <a:bodyPr wrap="none" lIns="0" tIns="0" rIns="0" bIns="0" rtlCol="0" anchor="t"/>
          <a:lstStyle/>
          <a:p>
            <a:pPr marL="0" indent="0" algn="l">
              <a:lnSpc>
                <a:spcPts val="3900"/>
              </a:lnSpc>
              <a:buNone/>
            </a:pPr>
            <a:r>
              <a:rPr lang="en-US" sz="3100" dirty="0">
                <a:solidFill>
                  <a:srgbClr val="FFFFFF"/>
                </a:solidFill>
                <a:latin typeface="Fraunces Medium" pitchFamily="34" charset="0"/>
                <a:ea typeface="Fraunces Medium" pitchFamily="34" charset="-122"/>
                <a:cs typeface="Fraunces Medium" pitchFamily="34" charset="-120"/>
              </a:rPr>
              <a:t>Domain &amp; Entity Analysis: The Shift to Human-Centric Impact</a:t>
            </a:r>
            <a:endParaRPr lang="en-US" sz="3100" dirty="0"/>
          </a:p>
        </p:txBody>
      </p:sp>
      <p:grpSp>
        <p:nvGrpSpPr>
          <p:cNvPr id="27" name="Group 26">
            <a:extLst>
              <a:ext uri="{FF2B5EF4-FFF2-40B4-BE49-F238E27FC236}">
                <a16:creationId xmlns:a16="http://schemas.microsoft.com/office/drawing/2014/main" id="{AB561BD6-1F4D-DE8A-7409-CA0E9E0CFE01}"/>
              </a:ext>
            </a:extLst>
          </p:cNvPr>
          <p:cNvGrpSpPr/>
          <p:nvPr/>
        </p:nvGrpSpPr>
        <p:grpSpPr>
          <a:xfrm>
            <a:off x="634603" y="2957309"/>
            <a:ext cx="13368814" cy="1979056"/>
            <a:chOff x="634603" y="1491615"/>
            <a:chExt cx="13368814" cy="1979056"/>
          </a:xfrm>
        </p:grpSpPr>
        <p:sp>
          <p:nvSpPr>
            <p:cNvPr id="3" name="Text 1"/>
            <p:cNvSpPr/>
            <p:nvPr/>
          </p:nvSpPr>
          <p:spPr>
            <a:xfrm>
              <a:off x="634603" y="1491615"/>
              <a:ext cx="3144203" cy="297418"/>
            </a:xfrm>
            <a:prstGeom prst="rect">
              <a:avLst/>
            </a:prstGeom>
            <a:noFill/>
            <a:ln/>
          </p:spPr>
          <p:txBody>
            <a:bodyPr wrap="none" lIns="0" tIns="0" rIns="0" bIns="0" rtlCol="0" anchor="t"/>
            <a:lstStyle/>
            <a:p>
              <a:pPr marL="0" indent="0" algn="l">
                <a:lnSpc>
                  <a:spcPts val="2300"/>
                </a:lnSpc>
                <a:buNone/>
              </a:pPr>
              <a:r>
                <a:rPr lang="en-US" sz="1850" dirty="0">
                  <a:solidFill>
                    <a:srgbClr val="FFFFFF"/>
                  </a:solidFill>
                  <a:latin typeface="Fraunces Medium" pitchFamily="34" charset="0"/>
                  <a:ea typeface="Fraunces Medium" pitchFamily="34" charset="-122"/>
                  <a:cs typeface="Fraunces Medium" pitchFamily="34" charset="-120"/>
                </a:rPr>
                <a:t>Entity Dominance &amp; Impact</a:t>
              </a:r>
              <a:endParaRPr lang="en-US" sz="1850" dirty="0"/>
            </a:p>
          </p:txBody>
        </p:sp>
        <p:sp>
          <p:nvSpPr>
            <p:cNvPr id="4" name="Text 2"/>
            <p:cNvSpPr/>
            <p:nvPr/>
          </p:nvSpPr>
          <p:spPr>
            <a:xfrm>
              <a:off x="634603" y="1947624"/>
              <a:ext cx="6487120" cy="1523047"/>
            </a:xfrm>
            <a:prstGeom prst="rect">
              <a:avLst/>
            </a:prstGeom>
            <a:noFill/>
            <a:ln/>
          </p:spPr>
          <p:txBody>
            <a:bodyPr wrap="square" lIns="0" tIns="0" rIns="0" bIns="0" rtlCol="0" anchor="t"/>
            <a:lstStyle/>
            <a:p>
              <a:pPr marL="0" indent="0" algn="l">
                <a:lnSpc>
                  <a:spcPts val="1950"/>
                </a:lnSpc>
                <a:buNone/>
              </a:pPr>
              <a:r>
                <a:rPr lang="en-US" sz="1050" dirty="0">
                  <a:solidFill>
                    <a:srgbClr val="EBECEF"/>
                  </a:solidFill>
                  <a:latin typeface="Epilogue" pitchFamily="34" charset="0"/>
                  <a:ea typeface="Epilogue" pitchFamily="34" charset="-122"/>
                  <a:cs typeface="Epilogue" pitchFamily="34" charset="-120"/>
                </a:rPr>
                <a:t>The </a:t>
              </a:r>
              <a:r>
                <a:rPr lang="en-US" sz="1050" dirty="0">
                  <a:solidFill>
                    <a:srgbClr val="8C98CA"/>
                  </a:solidFill>
                  <a:latin typeface="Epilogue" pitchFamily="34" charset="0"/>
                  <a:ea typeface="Epilogue" pitchFamily="34" charset="-122"/>
                  <a:cs typeface="Epilogue" pitchFamily="34" charset="-120"/>
                </a:rPr>
                <a:t>Word Cloud</a:t>
              </a:r>
              <a:r>
                <a:rPr lang="en-US" sz="1050" dirty="0">
                  <a:solidFill>
                    <a:srgbClr val="EBECEF"/>
                  </a:solidFill>
                  <a:latin typeface="Epilogue" pitchFamily="34" charset="0"/>
                  <a:ea typeface="Epilogue" pitchFamily="34" charset="-122"/>
                  <a:cs typeface="Epilogue" pitchFamily="34" charset="-120"/>
                </a:rPr>
                <a:t> visually confirms that "Workers," "Jobs," and "Tasks" are central topics, appearing with equal or greater prominence than technical terms. The </a:t>
              </a:r>
              <a:r>
                <a:rPr lang="en-US" sz="1050" dirty="0">
                  <a:solidFill>
                    <a:srgbClr val="8C98CA"/>
                  </a:solidFill>
                  <a:latin typeface="Epilogue" pitchFamily="34" charset="0"/>
                  <a:ea typeface="Epilogue" pitchFamily="34" charset="-122"/>
                  <a:cs typeface="Epilogue" pitchFamily="34" charset="-120"/>
                </a:rPr>
                <a:t>Top Entities Chart</a:t>
              </a:r>
              <a:r>
                <a:rPr lang="en-US" sz="1050" dirty="0">
                  <a:solidFill>
                    <a:srgbClr val="EBECEF"/>
                  </a:solidFill>
                  <a:latin typeface="Epilogue" pitchFamily="34" charset="0"/>
                  <a:ea typeface="Epilogue" pitchFamily="34" charset="-122"/>
                  <a:cs typeface="Epilogue" pitchFamily="34" charset="-120"/>
                </a:rPr>
                <a:t> further reveals that "Workers" (Rank #2) and "Jobs" (Rank #5) carry high Average Impact Magnitudes. This indicates that the most significant predicted changes are occurring at the human level, rather than solely at the macroeconomic level.</a:t>
              </a:r>
              <a:endParaRPr lang="en-US" sz="1050" dirty="0"/>
            </a:p>
          </p:txBody>
        </p:sp>
        <p:sp>
          <p:nvSpPr>
            <p:cNvPr id="5" name="Text 3"/>
            <p:cNvSpPr/>
            <p:nvPr/>
          </p:nvSpPr>
          <p:spPr>
            <a:xfrm>
              <a:off x="7516297" y="1491615"/>
              <a:ext cx="3393043" cy="297418"/>
            </a:xfrm>
            <a:prstGeom prst="rect">
              <a:avLst/>
            </a:prstGeom>
            <a:noFill/>
            <a:ln/>
          </p:spPr>
          <p:txBody>
            <a:bodyPr wrap="none" lIns="0" tIns="0" rIns="0" bIns="0" rtlCol="0" anchor="t"/>
            <a:lstStyle/>
            <a:p>
              <a:pPr marL="0" indent="0" algn="l">
                <a:lnSpc>
                  <a:spcPts val="2300"/>
                </a:lnSpc>
                <a:buNone/>
              </a:pPr>
              <a:r>
                <a:rPr lang="en-US" sz="1850" dirty="0">
                  <a:solidFill>
                    <a:srgbClr val="FFFFFF"/>
                  </a:solidFill>
                  <a:latin typeface="Fraunces Medium" pitchFamily="34" charset="0"/>
                  <a:ea typeface="Fraunces Medium" pitchFamily="34" charset="-122"/>
                  <a:cs typeface="Fraunces Medium" pitchFamily="34" charset="-120"/>
                </a:rPr>
                <a:t>Domain &amp; Infrastructure Link</a:t>
              </a:r>
              <a:endParaRPr lang="en-US" sz="1850" dirty="0"/>
            </a:p>
          </p:txBody>
        </p:sp>
        <p:sp>
          <p:nvSpPr>
            <p:cNvPr id="6" name="Text 4"/>
            <p:cNvSpPr/>
            <p:nvPr/>
          </p:nvSpPr>
          <p:spPr>
            <a:xfrm>
              <a:off x="7516297" y="1947624"/>
              <a:ext cx="6487120" cy="1269206"/>
            </a:xfrm>
            <a:prstGeom prst="rect">
              <a:avLst/>
            </a:prstGeom>
            <a:noFill/>
            <a:ln/>
          </p:spPr>
          <p:txBody>
            <a:bodyPr wrap="square" lIns="0" tIns="0" rIns="0" bIns="0" rtlCol="0" anchor="t"/>
            <a:lstStyle/>
            <a:p>
              <a:pPr marL="0" indent="0" algn="l">
                <a:lnSpc>
                  <a:spcPts val="1950"/>
                </a:lnSpc>
                <a:buNone/>
              </a:pPr>
              <a:r>
                <a:rPr lang="en-US" sz="1050" dirty="0">
                  <a:solidFill>
                    <a:srgbClr val="EBECEF"/>
                  </a:solidFill>
                  <a:latin typeface="Epilogue" pitchFamily="34" charset="0"/>
                  <a:ea typeface="Epilogue" pitchFamily="34" charset="-122"/>
                  <a:cs typeface="Epilogue" pitchFamily="34" charset="-120"/>
                </a:rPr>
                <a:t>The </a:t>
              </a:r>
              <a:r>
                <a:rPr lang="en-US" sz="1050" dirty="0">
                  <a:solidFill>
                    <a:srgbClr val="8C98CA"/>
                  </a:solidFill>
                  <a:latin typeface="Epilogue" pitchFamily="34" charset="0"/>
                  <a:ea typeface="Epilogue" pitchFamily="34" charset="-122"/>
                  <a:cs typeface="Epilogue" pitchFamily="34" charset="-120"/>
                </a:rPr>
                <a:t>Domain Analysis</a:t>
              </a:r>
              <a:r>
                <a:rPr lang="en-US" sz="1050" dirty="0">
                  <a:solidFill>
                    <a:srgbClr val="EBECEF"/>
                  </a:solidFill>
                  <a:latin typeface="Epilogue" pitchFamily="34" charset="0"/>
                  <a:ea typeface="Epilogue" pitchFamily="34" charset="-122"/>
                  <a:cs typeface="Epilogue" pitchFamily="34" charset="-120"/>
                </a:rPr>
                <a:t> chart shows that Employment is the second-highest volume domain (approx. 250 insights), far exceeding niche areas. This validates "Labor Transformation" as a primary driver of AI research. Additionally, the prominence of "Google" and "OpenAI" adjacent to "Workers" suggests the labor market is reacting to specific enterprise infrastructure, rather than abstract automation concepts.</a:t>
              </a:r>
              <a:endParaRPr lang="en-US" sz="1050" dirty="0"/>
            </a:p>
          </p:txBody>
        </p:sp>
      </p:grpSp>
      <p:grpSp>
        <p:nvGrpSpPr>
          <p:cNvPr id="29" name="Group 28">
            <a:extLst>
              <a:ext uri="{FF2B5EF4-FFF2-40B4-BE49-F238E27FC236}">
                <a16:creationId xmlns:a16="http://schemas.microsoft.com/office/drawing/2014/main" id="{E874E99D-574E-5691-1443-04F5AADF23CA}"/>
              </a:ext>
            </a:extLst>
          </p:cNvPr>
          <p:cNvGrpSpPr/>
          <p:nvPr/>
        </p:nvGrpSpPr>
        <p:grpSpPr>
          <a:xfrm>
            <a:off x="1378997" y="4816775"/>
            <a:ext cx="11584193" cy="2016052"/>
            <a:chOff x="634603" y="3791903"/>
            <a:chExt cx="13361075" cy="2325291"/>
          </a:xfrm>
        </p:grpSpPr>
        <p:sp>
          <p:nvSpPr>
            <p:cNvPr id="7" name="Shape 5"/>
            <p:cNvSpPr/>
            <p:nvPr/>
          </p:nvSpPr>
          <p:spPr>
            <a:xfrm>
              <a:off x="634603" y="3791903"/>
              <a:ext cx="4347924" cy="2325291"/>
            </a:xfrm>
            <a:prstGeom prst="roundRect">
              <a:avLst>
                <a:gd name="adj" fmla="val 2866"/>
              </a:avLst>
            </a:prstGeom>
            <a:solidFill>
              <a:srgbClr val="283157"/>
            </a:solidFill>
            <a:ln w="7620">
              <a:solidFill>
                <a:srgbClr val="414A70"/>
              </a:solidFill>
              <a:prstDash val="solid"/>
            </a:ln>
          </p:spPr>
        </p:sp>
        <p:sp>
          <p:nvSpPr>
            <p:cNvPr id="8" name="Shape 6"/>
            <p:cNvSpPr/>
            <p:nvPr/>
          </p:nvSpPr>
          <p:spPr>
            <a:xfrm>
              <a:off x="800814" y="3958114"/>
              <a:ext cx="475893" cy="475893"/>
            </a:xfrm>
            <a:prstGeom prst="roundRect">
              <a:avLst>
                <a:gd name="adj" fmla="val 19212482"/>
              </a:avLst>
            </a:prstGeom>
            <a:solidFill>
              <a:srgbClr val="8C98CA"/>
            </a:solidFill>
            <a:ln/>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1664" y="4088963"/>
              <a:ext cx="214074" cy="214074"/>
            </a:xfrm>
            <a:prstGeom prst="rect">
              <a:avLst/>
            </a:prstGeom>
          </p:spPr>
        </p:pic>
        <p:sp>
          <p:nvSpPr>
            <p:cNvPr id="10" name="Text 7"/>
            <p:cNvSpPr/>
            <p:nvPr/>
          </p:nvSpPr>
          <p:spPr>
            <a:xfrm>
              <a:off x="800814" y="4592598"/>
              <a:ext cx="2086094" cy="247888"/>
            </a:xfrm>
            <a:prstGeom prst="rect">
              <a:avLst/>
            </a:prstGeom>
            <a:noFill/>
            <a:ln/>
          </p:spPr>
          <p:txBody>
            <a:bodyPr wrap="none" lIns="0" tIns="0" rIns="0" bIns="0" rtlCol="0" anchor="t"/>
            <a:lstStyle/>
            <a:p>
              <a:pPr marL="0" indent="0" algn="l">
                <a:lnSpc>
                  <a:spcPts val="1950"/>
                </a:lnSpc>
                <a:buNone/>
              </a:pPr>
              <a:r>
                <a:rPr lang="en-US" sz="1550" dirty="0">
                  <a:solidFill>
                    <a:srgbClr val="EBECEF"/>
                  </a:solidFill>
                  <a:latin typeface="Fraunces Medium" pitchFamily="34" charset="0"/>
                  <a:ea typeface="Fraunces Medium" pitchFamily="34" charset="-122"/>
                  <a:cs typeface="Fraunces Medium" pitchFamily="34" charset="-120"/>
                </a:rPr>
                <a:t>Human-Centric Focus</a:t>
              </a:r>
              <a:endParaRPr lang="en-US" sz="1550" dirty="0"/>
            </a:p>
          </p:txBody>
        </p:sp>
        <p:sp>
          <p:nvSpPr>
            <p:cNvPr id="11" name="Text 8"/>
            <p:cNvSpPr/>
            <p:nvPr/>
          </p:nvSpPr>
          <p:spPr>
            <a:xfrm>
              <a:off x="800814" y="4935617"/>
              <a:ext cx="4015502" cy="1015365"/>
            </a:xfrm>
            <a:prstGeom prst="rect">
              <a:avLst/>
            </a:prstGeom>
            <a:noFill/>
            <a:ln/>
          </p:spPr>
          <p:txBody>
            <a:bodyPr wrap="square" lIns="0" tIns="0" rIns="0" bIns="0" rtlCol="0" anchor="t"/>
            <a:lstStyle/>
            <a:p>
              <a:pPr marL="0" indent="0" algn="l">
                <a:lnSpc>
                  <a:spcPts val="1950"/>
                </a:lnSpc>
                <a:buNone/>
              </a:pPr>
              <a:r>
                <a:rPr lang="en-US" sz="1200" dirty="0">
                  <a:solidFill>
                    <a:srgbClr val="EBECEF"/>
                  </a:solidFill>
                  <a:latin typeface="Epilogue" pitchFamily="34" charset="0"/>
                  <a:ea typeface="Epilogue" pitchFamily="34" charset="-122"/>
                  <a:cs typeface="Epilogue" pitchFamily="34" charset="-120"/>
                </a:rPr>
                <a:t>Our analysis shows a clear shift towards understanding AI's effects on human roles, skills, and task augmentation, highlighting the centrality of the "worker" in the AI narrative.</a:t>
              </a:r>
              <a:endParaRPr lang="en-US" sz="1200" dirty="0"/>
            </a:p>
          </p:txBody>
        </p:sp>
        <p:sp>
          <p:nvSpPr>
            <p:cNvPr id="12" name="Shape 9"/>
            <p:cNvSpPr/>
            <p:nvPr/>
          </p:nvSpPr>
          <p:spPr>
            <a:xfrm>
              <a:off x="5141119" y="3791903"/>
              <a:ext cx="4348043" cy="2325291"/>
            </a:xfrm>
            <a:prstGeom prst="roundRect">
              <a:avLst>
                <a:gd name="adj" fmla="val 2866"/>
              </a:avLst>
            </a:prstGeom>
            <a:solidFill>
              <a:srgbClr val="283157"/>
            </a:solidFill>
            <a:ln w="7620">
              <a:solidFill>
                <a:srgbClr val="414A70"/>
              </a:solidFill>
              <a:prstDash val="solid"/>
            </a:ln>
          </p:spPr>
        </p:sp>
        <p:sp>
          <p:nvSpPr>
            <p:cNvPr id="13" name="Shape 10"/>
            <p:cNvSpPr/>
            <p:nvPr/>
          </p:nvSpPr>
          <p:spPr>
            <a:xfrm>
              <a:off x="5307330" y="3958114"/>
              <a:ext cx="475893" cy="475893"/>
            </a:xfrm>
            <a:prstGeom prst="roundRect">
              <a:avLst>
                <a:gd name="adj" fmla="val 19212482"/>
              </a:avLst>
            </a:prstGeom>
            <a:solidFill>
              <a:srgbClr val="8C98CA"/>
            </a:solidFill>
            <a:ln/>
          </p:spPr>
        </p:sp>
        <p:pic>
          <p:nvPicPr>
            <p:cNvPr id="1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38180" y="4088963"/>
              <a:ext cx="214074" cy="214074"/>
            </a:xfrm>
            <a:prstGeom prst="rect">
              <a:avLst/>
            </a:prstGeom>
          </p:spPr>
        </p:pic>
        <p:sp>
          <p:nvSpPr>
            <p:cNvPr id="15" name="Text 11"/>
            <p:cNvSpPr/>
            <p:nvPr/>
          </p:nvSpPr>
          <p:spPr>
            <a:xfrm>
              <a:off x="5307330" y="4592598"/>
              <a:ext cx="2082760" cy="247888"/>
            </a:xfrm>
            <a:prstGeom prst="rect">
              <a:avLst/>
            </a:prstGeom>
            <a:noFill/>
            <a:ln/>
          </p:spPr>
          <p:txBody>
            <a:bodyPr wrap="none" lIns="0" tIns="0" rIns="0" bIns="0" rtlCol="0" anchor="t"/>
            <a:lstStyle/>
            <a:p>
              <a:pPr marL="0" indent="0" algn="l">
                <a:lnSpc>
                  <a:spcPts val="1950"/>
                </a:lnSpc>
                <a:buNone/>
              </a:pPr>
              <a:r>
                <a:rPr lang="en-US" sz="1550" dirty="0">
                  <a:solidFill>
                    <a:srgbClr val="EBECEF"/>
                  </a:solidFill>
                  <a:latin typeface="Fraunces Medium" pitchFamily="34" charset="0"/>
                  <a:ea typeface="Fraunces Medium" pitchFamily="34" charset="-122"/>
                  <a:cs typeface="Fraunces Medium" pitchFamily="34" charset="-120"/>
                </a:rPr>
                <a:t>Significant Magnitude</a:t>
              </a:r>
              <a:endParaRPr lang="en-US" sz="1550" dirty="0"/>
            </a:p>
          </p:txBody>
        </p:sp>
        <p:sp>
          <p:nvSpPr>
            <p:cNvPr id="16" name="Text 12"/>
            <p:cNvSpPr/>
            <p:nvPr/>
          </p:nvSpPr>
          <p:spPr>
            <a:xfrm>
              <a:off x="5307330" y="4935617"/>
              <a:ext cx="4015621" cy="761524"/>
            </a:xfrm>
            <a:prstGeom prst="rect">
              <a:avLst/>
            </a:prstGeom>
            <a:noFill/>
            <a:ln/>
          </p:spPr>
          <p:txBody>
            <a:bodyPr wrap="square" lIns="0" tIns="0" rIns="0" bIns="0" rtlCol="0" anchor="t"/>
            <a:lstStyle/>
            <a:p>
              <a:pPr marL="0" indent="0" algn="l">
                <a:lnSpc>
                  <a:spcPts val="1950"/>
                </a:lnSpc>
                <a:buNone/>
              </a:pPr>
              <a:r>
                <a:rPr lang="en-US" sz="1200" dirty="0">
                  <a:solidFill>
                    <a:srgbClr val="EBECEF"/>
                  </a:solidFill>
                  <a:latin typeface="Epilogue" pitchFamily="34" charset="0"/>
                  <a:ea typeface="Epilogue" pitchFamily="34" charset="-122"/>
                  <a:cs typeface="Epilogue" pitchFamily="34" charset="-120"/>
                </a:rPr>
                <a:t>The high average impact magnitude for entities like "Workers" and "Jobs" underscores the profound and direct influence AI is having on the workforce.</a:t>
              </a:r>
              <a:endParaRPr lang="en-US" sz="1200" dirty="0"/>
            </a:p>
          </p:txBody>
        </p:sp>
        <p:sp>
          <p:nvSpPr>
            <p:cNvPr id="17" name="Shape 13"/>
            <p:cNvSpPr/>
            <p:nvPr/>
          </p:nvSpPr>
          <p:spPr>
            <a:xfrm>
              <a:off x="9647754" y="3791903"/>
              <a:ext cx="4347924" cy="2325291"/>
            </a:xfrm>
            <a:prstGeom prst="roundRect">
              <a:avLst>
                <a:gd name="adj" fmla="val 2866"/>
              </a:avLst>
            </a:prstGeom>
            <a:solidFill>
              <a:srgbClr val="283157"/>
            </a:solidFill>
            <a:ln w="7620">
              <a:solidFill>
                <a:srgbClr val="414A70"/>
              </a:solidFill>
              <a:prstDash val="solid"/>
            </a:ln>
          </p:spPr>
        </p:sp>
        <p:sp>
          <p:nvSpPr>
            <p:cNvPr id="18" name="Shape 14"/>
            <p:cNvSpPr/>
            <p:nvPr/>
          </p:nvSpPr>
          <p:spPr>
            <a:xfrm>
              <a:off x="9813965" y="3958114"/>
              <a:ext cx="475893" cy="475893"/>
            </a:xfrm>
            <a:prstGeom prst="roundRect">
              <a:avLst>
                <a:gd name="adj" fmla="val 19212482"/>
              </a:avLst>
            </a:prstGeom>
            <a:solidFill>
              <a:srgbClr val="8C98CA"/>
            </a:solidFill>
            <a:ln/>
          </p:spPr>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44814" y="4088963"/>
              <a:ext cx="214074" cy="214074"/>
            </a:xfrm>
            <a:prstGeom prst="rect">
              <a:avLst/>
            </a:prstGeom>
          </p:spPr>
        </p:pic>
        <p:sp>
          <p:nvSpPr>
            <p:cNvPr id="20" name="Text 15"/>
            <p:cNvSpPr/>
            <p:nvPr/>
          </p:nvSpPr>
          <p:spPr>
            <a:xfrm>
              <a:off x="9813965" y="4592598"/>
              <a:ext cx="1983105" cy="247888"/>
            </a:xfrm>
            <a:prstGeom prst="rect">
              <a:avLst/>
            </a:prstGeom>
            <a:noFill/>
            <a:ln/>
          </p:spPr>
          <p:txBody>
            <a:bodyPr wrap="none" lIns="0" tIns="0" rIns="0" bIns="0" rtlCol="0" anchor="t"/>
            <a:lstStyle/>
            <a:p>
              <a:pPr marL="0" indent="0" algn="l">
                <a:lnSpc>
                  <a:spcPts val="1950"/>
                </a:lnSpc>
                <a:buNone/>
              </a:pPr>
              <a:r>
                <a:rPr lang="en-US" sz="1550" dirty="0">
                  <a:solidFill>
                    <a:srgbClr val="EBECEF"/>
                  </a:solidFill>
                  <a:latin typeface="Fraunces Medium" pitchFamily="34" charset="0"/>
                  <a:ea typeface="Fraunces Medium" pitchFamily="34" charset="-122"/>
                  <a:cs typeface="Fraunces Medium" pitchFamily="34" charset="-120"/>
                </a:rPr>
                <a:t>Enterprise Influence</a:t>
              </a:r>
              <a:endParaRPr lang="en-US" sz="1550" dirty="0"/>
            </a:p>
          </p:txBody>
        </p:sp>
        <p:sp>
          <p:nvSpPr>
            <p:cNvPr id="21" name="Text 16"/>
            <p:cNvSpPr/>
            <p:nvPr/>
          </p:nvSpPr>
          <p:spPr>
            <a:xfrm>
              <a:off x="9813965" y="4935617"/>
              <a:ext cx="4015502" cy="1015365"/>
            </a:xfrm>
            <a:prstGeom prst="rect">
              <a:avLst/>
            </a:prstGeom>
            <a:noFill/>
            <a:ln/>
          </p:spPr>
          <p:txBody>
            <a:bodyPr wrap="square" lIns="0" tIns="0" rIns="0" bIns="0" rtlCol="0" anchor="t"/>
            <a:lstStyle/>
            <a:p>
              <a:pPr marL="0" indent="0" algn="l">
                <a:lnSpc>
                  <a:spcPts val="1950"/>
                </a:lnSpc>
                <a:buNone/>
              </a:pPr>
              <a:r>
                <a:rPr lang="en-US" sz="1200" dirty="0">
                  <a:solidFill>
                    <a:srgbClr val="EBECEF"/>
                  </a:solidFill>
                  <a:latin typeface="Epilogue" pitchFamily="34" charset="0"/>
                  <a:ea typeface="Epilogue" pitchFamily="34" charset="-122"/>
                  <a:cs typeface="Epilogue" pitchFamily="34" charset="-120"/>
                </a:rPr>
                <a:t>The data suggests that specific companies and their AI infrastructure are significant factors shaping discussions around labor market transformation.</a:t>
              </a:r>
              <a:endParaRPr lang="en-US" sz="1200" dirty="0"/>
            </a:p>
          </p:txBody>
        </p:sp>
      </p:grpSp>
      <p:grpSp>
        <p:nvGrpSpPr>
          <p:cNvPr id="28" name="Group 27">
            <a:extLst>
              <a:ext uri="{FF2B5EF4-FFF2-40B4-BE49-F238E27FC236}">
                <a16:creationId xmlns:a16="http://schemas.microsoft.com/office/drawing/2014/main" id="{ADC36753-AB53-DB6B-CA9D-466C26D6F4FC}"/>
              </a:ext>
            </a:extLst>
          </p:cNvPr>
          <p:cNvGrpSpPr/>
          <p:nvPr/>
        </p:nvGrpSpPr>
        <p:grpSpPr>
          <a:xfrm>
            <a:off x="634603" y="6968299"/>
            <a:ext cx="11413371" cy="1139914"/>
            <a:chOff x="634603" y="6295668"/>
            <a:chExt cx="13361194" cy="1334453"/>
          </a:xfrm>
        </p:grpSpPr>
        <p:sp>
          <p:nvSpPr>
            <p:cNvPr id="22" name="Shape 17"/>
            <p:cNvSpPr/>
            <p:nvPr/>
          </p:nvSpPr>
          <p:spPr>
            <a:xfrm>
              <a:off x="634603" y="6295668"/>
              <a:ext cx="13361194" cy="1334453"/>
            </a:xfrm>
            <a:prstGeom prst="roundRect">
              <a:avLst>
                <a:gd name="adj" fmla="val 4993"/>
              </a:avLst>
            </a:prstGeom>
            <a:solidFill>
              <a:srgbClr val="181E34"/>
            </a:solidFill>
            <a:ln/>
          </p:spPr>
        </p:sp>
        <p:pic>
          <p:nvPicPr>
            <p:cNvPr id="23" name="Image 3" descr="preencoded.png"/>
            <p:cNvPicPr>
              <a:picLocks noChangeAspect="1"/>
            </p:cNvPicPr>
            <p:nvPr/>
          </p:nvPicPr>
          <p:blipFill>
            <a:blip r:embed="rId9"/>
            <a:stretch>
              <a:fillRect/>
            </a:stretch>
          </p:blipFill>
          <p:spPr>
            <a:xfrm>
              <a:off x="793194" y="6510933"/>
              <a:ext cx="247888" cy="198239"/>
            </a:xfrm>
            <a:prstGeom prst="rect">
              <a:avLst/>
            </a:prstGeom>
          </p:spPr>
        </p:pic>
        <p:sp>
          <p:nvSpPr>
            <p:cNvPr id="24" name="Text 18"/>
            <p:cNvSpPr/>
            <p:nvPr/>
          </p:nvSpPr>
          <p:spPr>
            <a:xfrm>
              <a:off x="1199674" y="6493907"/>
              <a:ext cx="1993940" cy="247888"/>
            </a:xfrm>
            <a:prstGeom prst="rect">
              <a:avLst/>
            </a:prstGeom>
            <a:noFill/>
            <a:ln/>
          </p:spPr>
          <p:txBody>
            <a:bodyPr wrap="none" lIns="0" tIns="0" rIns="0" bIns="0" rtlCol="0" anchor="t"/>
            <a:lstStyle/>
            <a:p>
              <a:pPr marL="0" indent="0" algn="l">
                <a:lnSpc>
                  <a:spcPts val="1950"/>
                </a:lnSpc>
                <a:buNone/>
              </a:pPr>
              <a:r>
                <a:rPr lang="en-US" sz="1550" dirty="0">
                  <a:solidFill>
                    <a:srgbClr val="FFFFFF"/>
                  </a:solidFill>
                  <a:latin typeface="Fraunces Medium" pitchFamily="34" charset="0"/>
                  <a:ea typeface="Fraunces Medium" pitchFamily="34" charset="-122"/>
                  <a:cs typeface="Fraunces Medium" pitchFamily="34" charset="-120"/>
                </a:rPr>
                <a:t>Strategic Implication</a:t>
              </a:r>
              <a:endParaRPr lang="en-US" sz="1550" dirty="0"/>
            </a:p>
          </p:txBody>
        </p:sp>
        <p:sp>
          <p:nvSpPr>
            <p:cNvPr id="25" name="Text 19"/>
            <p:cNvSpPr/>
            <p:nvPr/>
          </p:nvSpPr>
          <p:spPr>
            <a:xfrm>
              <a:off x="1199674" y="6900386"/>
              <a:ext cx="12637532" cy="507683"/>
            </a:xfrm>
            <a:prstGeom prst="rect">
              <a:avLst/>
            </a:prstGeom>
            <a:noFill/>
            <a:ln/>
          </p:spPr>
          <p:txBody>
            <a:bodyPr wrap="square" lIns="0" tIns="0" rIns="0" bIns="0" rtlCol="0" anchor="t"/>
            <a:lstStyle/>
            <a:p>
              <a:pPr marL="0" indent="0" algn="l">
                <a:lnSpc>
                  <a:spcPts val="1950"/>
                </a:lnSpc>
                <a:buNone/>
              </a:pPr>
              <a:r>
                <a:rPr lang="en-US" sz="1200" dirty="0">
                  <a:solidFill>
                    <a:srgbClr val="FFFFFF"/>
                  </a:solidFill>
                  <a:latin typeface="Epilogue" pitchFamily="34" charset="0"/>
                  <a:ea typeface="Epilogue" pitchFamily="34" charset="-122"/>
                  <a:cs typeface="Epilogue" pitchFamily="34" charset="-120"/>
                </a:rPr>
                <a:t>While "Economic" insights dominate in pure volume, the intensity of the "Employment" domain proves that the substantive impact of AI is being measured by its effect on human roles, skills, and task augmentation. This necessitates a human-centric approach to strategy.</a:t>
              </a:r>
              <a:endParaRPr lang="en-US" sz="1200" dirty="0"/>
            </a:p>
          </p:txBody>
        </p:sp>
      </p:grpSp>
      <p:sp>
        <p:nvSpPr>
          <p:cNvPr id="26" name="Rectangle 25">
            <a:extLst>
              <a:ext uri="{FF2B5EF4-FFF2-40B4-BE49-F238E27FC236}">
                <a16:creationId xmlns:a16="http://schemas.microsoft.com/office/drawing/2014/main" id="{7FCAAC82-D361-D39D-E383-1B9B8A3E1AA0}"/>
              </a:ext>
            </a:extLst>
          </p:cNvPr>
          <p:cNvSpPr/>
          <p:nvPr/>
        </p:nvSpPr>
        <p:spPr>
          <a:xfrm>
            <a:off x="12821697" y="7797520"/>
            <a:ext cx="1678074" cy="365761"/>
          </a:xfrm>
          <a:prstGeom prst="rect">
            <a:avLst/>
          </a:prstGeom>
          <a:solidFill>
            <a:srgbClr val="080E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a:extLst>
              <a:ext uri="{FF2B5EF4-FFF2-40B4-BE49-F238E27FC236}">
                <a16:creationId xmlns:a16="http://schemas.microsoft.com/office/drawing/2014/main" id="{3896B7EE-CC0F-99C0-3DAC-97312267D3C1}"/>
              </a:ext>
            </a:extLst>
          </p:cNvPr>
          <p:cNvPicPr>
            <a:picLocks noChangeAspect="1"/>
          </p:cNvPicPr>
          <p:nvPr/>
        </p:nvPicPr>
        <p:blipFill>
          <a:blip r:embed="rId10"/>
          <a:stretch>
            <a:fillRect/>
          </a:stretch>
        </p:blipFill>
        <p:spPr>
          <a:xfrm>
            <a:off x="10722064" y="661149"/>
            <a:ext cx="3777707" cy="2296160"/>
          </a:xfrm>
          <a:prstGeom prst="rect">
            <a:avLst/>
          </a:prstGeom>
        </p:spPr>
      </p:pic>
      <p:pic>
        <p:nvPicPr>
          <p:cNvPr id="33" name="Picture 32">
            <a:extLst>
              <a:ext uri="{FF2B5EF4-FFF2-40B4-BE49-F238E27FC236}">
                <a16:creationId xmlns:a16="http://schemas.microsoft.com/office/drawing/2014/main" id="{70CCD29A-7875-088E-6B26-FF74DFF23246}"/>
              </a:ext>
            </a:extLst>
          </p:cNvPr>
          <p:cNvPicPr>
            <a:picLocks noChangeAspect="1"/>
          </p:cNvPicPr>
          <p:nvPr/>
        </p:nvPicPr>
        <p:blipFill>
          <a:blip r:embed="rId11"/>
          <a:stretch>
            <a:fillRect/>
          </a:stretch>
        </p:blipFill>
        <p:spPr>
          <a:xfrm>
            <a:off x="981824" y="583868"/>
            <a:ext cx="5574388" cy="22961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6868" y="489109"/>
            <a:ext cx="10834449" cy="513278"/>
          </a:xfrm>
          <a:prstGeom prst="rect">
            <a:avLst/>
          </a:prstGeom>
          <a:noFill/>
          <a:ln/>
        </p:spPr>
        <p:txBody>
          <a:bodyPr wrap="none" lIns="0" tIns="0" rIns="0" bIns="0" rtlCol="0" anchor="t"/>
          <a:lstStyle/>
          <a:p>
            <a:pPr marL="0" indent="0" algn="l">
              <a:lnSpc>
                <a:spcPts val="4000"/>
              </a:lnSpc>
              <a:buNone/>
            </a:pPr>
            <a:r>
              <a:rPr lang="en-US" sz="3200" dirty="0">
                <a:solidFill>
                  <a:srgbClr val="FFFFFF"/>
                </a:solidFill>
                <a:latin typeface="Fraunces Medium" pitchFamily="34" charset="0"/>
                <a:ea typeface="Fraunces Medium" pitchFamily="34" charset="-122"/>
                <a:cs typeface="Fraunces Medium" pitchFamily="34" charset="-120"/>
              </a:rPr>
              <a:t>Temporal &amp; Pattern Trends: The Timeline of Disruption</a:t>
            </a:r>
            <a:endParaRPr lang="en-US" sz="3200" dirty="0"/>
          </a:p>
        </p:txBody>
      </p:sp>
      <p:sp>
        <p:nvSpPr>
          <p:cNvPr id="15" name="Shape 11"/>
          <p:cNvSpPr/>
          <p:nvPr/>
        </p:nvSpPr>
        <p:spPr>
          <a:xfrm>
            <a:off x="656868" y="3908822"/>
            <a:ext cx="6576179" cy="2003227"/>
          </a:xfrm>
          <a:prstGeom prst="roundRect">
            <a:avLst>
              <a:gd name="adj" fmla="val 5478"/>
            </a:avLst>
          </a:prstGeom>
          <a:solidFill>
            <a:srgbClr val="080E26"/>
          </a:solidFill>
          <a:ln/>
        </p:spPr>
      </p:sp>
      <p:sp>
        <p:nvSpPr>
          <p:cNvPr id="21" name="Shape 16"/>
          <p:cNvSpPr/>
          <p:nvPr/>
        </p:nvSpPr>
        <p:spPr>
          <a:xfrm>
            <a:off x="7397234" y="3908822"/>
            <a:ext cx="6576298" cy="2003227"/>
          </a:xfrm>
          <a:prstGeom prst="roundRect">
            <a:avLst>
              <a:gd name="adj" fmla="val 5478"/>
            </a:avLst>
          </a:prstGeom>
          <a:solidFill>
            <a:srgbClr val="080E26"/>
          </a:solidFill>
          <a:ln/>
        </p:spPr>
      </p:sp>
      <p:grpSp>
        <p:nvGrpSpPr>
          <p:cNvPr id="34" name="Group 33">
            <a:extLst>
              <a:ext uri="{FF2B5EF4-FFF2-40B4-BE49-F238E27FC236}">
                <a16:creationId xmlns:a16="http://schemas.microsoft.com/office/drawing/2014/main" id="{8B3DA2DA-0814-EA71-9AA5-9BD733C583D3}"/>
              </a:ext>
            </a:extLst>
          </p:cNvPr>
          <p:cNvGrpSpPr/>
          <p:nvPr/>
        </p:nvGrpSpPr>
        <p:grpSpPr>
          <a:xfrm>
            <a:off x="306473" y="1303169"/>
            <a:ext cx="9441724" cy="3878483"/>
            <a:chOff x="656869" y="940248"/>
            <a:chExt cx="12848116" cy="4784754"/>
          </a:xfrm>
        </p:grpSpPr>
        <p:sp>
          <p:nvSpPr>
            <p:cNvPr id="3" name="Shape 1"/>
            <p:cNvSpPr/>
            <p:nvPr/>
          </p:nvSpPr>
          <p:spPr>
            <a:xfrm>
              <a:off x="656869" y="1637794"/>
              <a:ext cx="6107640" cy="1860501"/>
            </a:xfrm>
            <a:prstGeom prst="roundRect">
              <a:avLst>
                <a:gd name="adj" fmla="val 5478"/>
              </a:avLst>
            </a:prstGeom>
            <a:solidFill>
              <a:srgbClr val="080E26"/>
            </a:solidFill>
            <a:ln/>
          </p:spPr>
        </p:sp>
        <p:sp>
          <p:nvSpPr>
            <p:cNvPr id="4" name="Shape 2"/>
            <p:cNvSpPr/>
            <p:nvPr/>
          </p:nvSpPr>
          <p:spPr>
            <a:xfrm>
              <a:off x="815611" y="1205665"/>
              <a:ext cx="6107640" cy="84926"/>
            </a:xfrm>
            <a:prstGeom prst="roundRect">
              <a:avLst>
                <a:gd name="adj" fmla="val 75437"/>
              </a:avLst>
            </a:prstGeom>
            <a:solidFill>
              <a:srgbClr val="8C98CA"/>
            </a:solidFill>
            <a:ln/>
          </p:spPr>
          <p:txBody>
            <a:bodyPr/>
            <a:lstStyle/>
            <a:p>
              <a:endParaRPr lang="en-IN" dirty="0"/>
            </a:p>
          </p:txBody>
        </p:sp>
        <p:sp>
          <p:nvSpPr>
            <p:cNvPr id="5" name="Shape 3"/>
            <p:cNvSpPr/>
            <p:nvPr/>
          </p:nvSpPr>
          <p:spPr>
            <a:xfrm>
              <a:off x="3698558" y="940248"/>
              <a:ext cx="492682" cy="492681"/>
            </a:xfrm>
            <a:prstGeom prst="roundRect">
              <a:avLst>
                <a:gd name="adj" fmla="val 185597"/>
              </a:avLst>
            </a:prstGeom>
            <a:solidFill>
              <a:srgbClr val="8C98CA"/>
            </a:solidFill>
            <a:ln/>
          </p:spPr>
          <p:txBody>
            <a:bodyPr/>
            <a:lstStyle/>
            <a:p>
              <a:endParaRPr lang="en-IN"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68302" y="1076759"/>
              <a:ext cx="183009" cy="183009"/>
            </a:xfrm>
            <a:prstGeom prst="rect">
              <a:avLst/>
            </a:prstGeom>
          </p:spPr>
        </p:pic>
        <p:sp>
          <p:nvSpPr>
            <p:cNvPr id="7" name="Text 4"/>
            <p:cNvSpPr/>
            <p:nvPr/>
          </p:nvSpPr>
          <p:spPr>
            <a:xfrm>
              <a:off x="966278" y="1627698"/>
              <a:ext cx="2450996" cy="238299"/>
            </a:xfrm>
            <a:prstGeom prst="rect">
              <a:avLst/>
            </a:prstGeom>
            <a:noFill/>
            <a:ln/>
          </p:spPr>
          <p:txBody>
            <a:bodyPr wrap="none" lIns="0" tIns="0" rIns="0" bIns="0" rtlCol="0" anchor="t"/>
            <a:lstStyle/>
            <a:p>
              <a:pPr marL="0" indent="0" algn="l">
                <a:lnSpc>
                  <a:spcPts val="2000"/>
                </a:lnSpc>
                <a:buNone/>
              </a:pPr>
              <a:r>
                <a:rPr lang="en-US" sz="1600" dirty="0">
                  <a:solidFill>
                    <a:srgbClr val="EBECEF"/>
                  </a:solidFill>
                  <a:latin typeface="Fraunces Medium" pitchFamily="34" charset="0"/>
                  <a:ea typeface="Fraunces Medium" pitchFamily="34" charset="-122"/>
                  <a:cs typeface="Fraunces Medium" pitchFamily="34" charset="-120"/>
                </a:rPr>
                <a:t>Critical Period: 2025–2040</a:t>
              </a:r>
              <a:endParaRPr lang="en-US" sz="1600" dirty="0"/>
            </a:p>
          </p:txBody>
        </p:sp>
        <p:sp>
          <p:nvSpPr>
            <p:cNvPr id="8" name="Text 5"/>
            <p:cNvSpPr/>
            <p:nvPr/>
          </p:nvSpPr>
          <p:spPr>
            <a:xfrm>
              <a:off x="966279" y="2039317"/>
              <a:ext cx="5760200" cy="975754"/>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The </a:t>
              </a:r>
              <a:r>
                <a:rPr lang="en-US" sz="1250" dirty="0">
                  <a:solidFill>
                    <a:srgbClr val="8C98CA"/>
                  </a:solidFill>
                  <a:latin typeface="Epilogue" pitchFamily="34" charset="0"/>
                  <a:ea typeface="Epilogue" pitchFamily="34" charset="-122"/>
                  <a:cs typeface="Epilogue" pitchFamily="34" charset="-120"/>
                </a:rPr>
                <a:t>Temporal Trends</a:t>
              </a:r>
              <a:r>
                <a:rPr lang="en-US" sz="1250" dirty="0">
                  <a:solidFill>
                    <a:srgbClr val="EBECEF"/>
                  </a:solidFill>
                  <a:latin typeface="Epilogue" pitchFamily="34" charset="0"/>
                  <a:ea typeface="Epilogue" pitchFamily="34" charset="-122"/>
                  <a:cs typeface="Epilogue" pitchFamily="34" charset="-120"/>
                </a:rPr>
                <a:t> view highlights a distinct peak in insight volume for the "Next Decade" and "By 2035" timeframes. This identifies the current period as a critical window for AI adoption and workforce restructuring, demanding immediate attention.</a:t>
              </a:r>
              <a:endParaRPr lang="en-US" sz="1250" dirty="0"/>
            </a:p>
          </p:txBody>
        </p:sp>
        <p:sp>
          <p:nvSpPr>
            <p:cNvPr id="9" name="Shape 6"/>
            <p:cNvSpPr/>
            <p:nvPr/>
          </p:nvSpPr>
          <p:spPr>
            <a:xfrm>
              <a:off x="7397234" y="1637794"/>
              <a:ext cx="6107751" cy="1860501"/>
            </a:xfrm>
            <a:prstGeom prst="roundRect">
              <a:avLst>
                <a:gd name="adj" fmla="val 5478"/>
              </a:avLst>
            </a:prstGeom>
            <a:solidFill>
              <a:srgbClr val="080E26"/>
            </a:solidFill>
            <a:ln/>
          </p:spPr>
        </p:sp>
        <p:sp>
          <p:nvSpPr>
            <p:cNvPr id="10" name="Shape 7"/>
            <p:cNvSpPr/>
            <p:nvPr/>
          </p:nvSpPr>
          <p:spPr>
            <a:xfrm>
              <a:off x="7397232" y="1217961"/>
              <a:ext cx="6107751" cy="84926"/>
            </a:xfrm>
            <a:prstGeom prst="roundRect">
              <a:avLst>
                <a:gd name="adj" fmla="val 75437"/>
              </a:avLst>
            </a:prstGeom>
            <a:solidFill>
              <a:srgbClr val="8C98CA"/>
            </a:solidFill>
            <a:ln/>
          </p:spPr>
        </p:sp>
        <p:sp>
          <p:nvSpPr>
            <p:cNvPr id="11" name="Shape 8"/>
            <p:cNvSpPr/>
            <p:nvPr/>
          </p:nvSpPr>
          <p:spPr>
            <a:xfrm>
              <a:off x="10340458" y="959324"/>
              <a:ext cx="492682" cy="492681"/>
            </a:xfrm>
            <a:prstGeom prst="roundRect">
              <a:avLst>
                <a:gd name="adj" fmla="val 185597"/>
              </a:avLst>
            </a:prstGeom>
            <a:solidFill>
              <a:srgbClr val="8C98CA"/>
            </a:solidFill>
            <a:ln/>
          </p:spPr>
          <p:txBody>
            <a:bodyPr/>
            <a:lstStyle/>
            <a:p>
              <a:endParaRPr lang="en-IN" dirty="0"/>
            </a:p>
          </p:txBody>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14043" y="1134433"/>
              <a:ext cx="183009" cy="183009"/>
            </a:xfrm>
            <a:prstGeom prst="rect">
              <a:avLst/>
            </a:prstGeom>
          </p:spPr>
        </p:pic>
        <p:sp>
          <p:nvSpPr>
            <p:cNvPr id="13" name="Text 9"/>
            <p:cNvSpPr/>
            <p:nvPr/>
          </p:nvSpPr>
          <p:spPr>
            <a:xfrm>
              <a:off x="7706644" y="1627698"/>
              <a:ext cx="1906613" cy="238299"/>
            </a:xfrm>
            <a:prstGeom prst="rect">
              <a:avLst/>
            </a:prstGeom>
            <a:noFill/>
            <a:ln/>
          </p:spPr>
          <p:txBody>
            <a:bodyPr wrap="none" lIns="0" tIns="0" rIns="0" bIns="0" rtlCol="0" anchor="t"/>
            <a:lstStyle/>
            <a:p>
              <a:pPr marL="0" indent="0" algn="l">
                <a:lnSpc>
                  <a:spcPts val="2000"/>
                </a:lnSpc>
                <a:buNone/>
              </a:pPr>
              <a:r>
                <a:rPr lang="en-US" sz="1600" dirty="0">
                  <a:solidFill>
                    <a:srgbClr val="EBECEF"/>
                  </a:solidFill>
                  <a:latin typeface="Fraunces Medium" pitchFamily="34" charset="0"/>
                  <a:ea typeface="Fraunces Medium" pitchFamily="34" charset="-122"/>
                  <a:cs typeface="Fraunces Medium" pitchFamily="34" charset="-120"/>
                </a:rPr>
                <a:t>Immediate Volatility</a:t>
              </a:r>
              <a:endParaRPr lang="en-US" sz="1600" dirty="0"/>
            </a:p>
          </p:txBody>
        </p:sp>
        <p:sp>
          <p:nvSpPr>
            <p:cNvPr id="14" name="Text 10"/>
            <p:cNvSpPr/>
            <p:nvPr/>
          </p:nvSpPr>
          <p:spPr>
            <a:xfrm>
              <a:off x="7706644" y="2039317"/>
              <a:ext cx="5760310" cy="975754"/>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The </a:t>
              </a:r>
              <a:r>
                <a:rPr lang="en-US" sz="1250" dirty="0">
                  <a:solidFill>
                    <a:srgbClr val="8C98CA"/>
                  </a:solidFill>
                  <a:latin typeface="Epilogue" pitchFamily="34" charset="0"/>
                  <a:ea typeface="Epilogue" pitchFamily="34" charset="-122"/>
                  <a:cs typeface="Epilogue" pitchFamily="34" charset="-120"/>
                </a:rPr>
                <a:t>Average Impact Magnitude</a:t>
              </a:r>
              <a:r>
                <a:rPr lang="en-US" sz="1250" dirty="0">
                  <a:solidFill>
                    <a:srgbClr val="EBECEF"/>
                  </a:solidFill>
                  <a:latin typeface="Epilogue" pitchFamily="34" charset="0"/>
                  <a:ea typeface="Epilogue" pitchFamily="34" charset="-122"/>
                  <a:cs typeface="Epilogue" pitchFamily="34" charset="-120"/>
                </a:rPr>
                <a:t> line chart shows high volatility in the "Employment" trendline over the next 5 years. This indicates an expected "shock" period of intensive AI implementation before a potential long-term stabilization of the market.</a:t>
              </a:r>
              <a:endParaRPr lang="en-US" sz="1250" dirty="0"/>
            </a:p>
          </p:txBody>
        </p:sp>
        <p:sp>
          <p:nvSpPr>
            <p:cNvPr id="16" name="Shape 12"/>
            <p:cNvSpPr/>
            <p:nvPr/>
          </p:nvSpPr>
          <p:spPr>
            <a:xfrm>
              <a:off x="792494" y="4153533"/>
              <a:ext cx="6107640" cy="84926"/>
            </a:xfrm>
            <a:prstGeom prst="roundRect">
              <a:avLst>
                <a:gd name="adj" fmla="val 75437"/>
              </a:avLst>
            </a:prstGeom>
            <a:solidFill>
              <a:srgbClr val="8C98CA"/>
            </a:solidFill>
            <a:ln/>
          </p:spPr>
          <p:txBody>
            <a:bodyPr/>
            <a:lstStyle/>
            <a:p>
              <a:endParaRPr lang="en-IN" dirty="0"/>
            </a:p>
          </p:txBody>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6314" y="3824276"/>
              <a:ext cx="183009" cy="183009"/>
            </a:xfrm>
            <a:prstGeom prst="rect">
              <a:avLst/>
            </a:prstGeom>
          </p:spPr>
        </p:pic>
        <p:sp>
          <p:nvSpPr>
            <p:cNvPr id="19" name="Text 14"/>
            <p:cNvSpPr/>
            <p:nvPr/>
          </p:nvSpPr>
          <p:spPr>
            <a:xfrm>
              <a:off x="843915" y="4337629"/>
              <a:ext cx="1906613" cy="238299"/>
            </a:xfrm>
            <a:prstGeom prst="rect">
              <a:avLst/>
            </a:prstGeom>
            <a:noFill/>
            <a:ln/>
          </p:spPr>
          <p:txBody>
            <a:bodyPr wrap="none" lIns="0" tIns="0" rIns="0" bIns="0" rtlCol="0" anchor="t"/>
            <a:lstStyle/>
            <a:p>
              <a:pPr marL="0" indent="0" algn="l">
                <a:lnSpc>
                  <a:spcPts val="2000"/>
                </a:lnSpc>
                <a:buNone/>
              </a:pPr>
              <a:r>
                <a:rPr lang="en-US" sz="1600" dirty="0">
                  <a:solidFill>
                    <a:srgbClr val="EBECEF"/>
                  </a:solidFill>
                  <a:latin typeface="Fraunces Medium" pitchFamily="34" charset="0"/>
                  <a:ea typeface="Fraunces Medium" pitchFamily="34" charset="-122"/>
                  <a:cs typeface="Fraunces Medium" pitchFamily="34" charset="-120"/>
                </a:rPr>
                <a:t>Reliable Extraction</a:t>
              </a:r>
              <a:endParaRPr lang="en-US" sz="1600" dirty="0"/>
            </a:p>
          </p:txBody>
        </p:sp>
        <p:sp>
          <p:nvSpPr>
            <p:cNvPr id="20" name="Text 15"/>
            <p:cNvSpPr/>
            <p:nvPr/>
          </p:nvSpPr>
          <p:spPr>
            <a:xfrm>
              <a:off x="843916" y="4749248"/>
              <a:ext cx="5760200" cy="975754"/>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The </a:t>
              </a:r>
              <a:r>
                <a:rPr lang="en-US" sz="1250" dirty="0">
                  <a:solidFill>
                    <a:srgbClr val="8C98CA"/>
                  </a:solidFill>
                  <a:latin typeface="Epilogue" pitchFamily="34" charset="0"/>
                  <a:ea typeface="Epilogue" pitchFamily="34" charset="-122"/>
                  <a:cs typeface="Epilogue" pitchFamily="34" charset="-120"/>
                </a:rPr>
                <a:t>Pattern Insights</a:t>
              </a:r>
              <a:r>
                <a:rPr lang="en-US" sz="1250" dirty="0">
                  <a:solidFill>
                    <a:srgbClr val="EBECEF"/>
                  </a:solidFill>
                  <a:latin typeface="Epilogue" pitchFamily="34" charset="0"/>
                  <a:ea typeface="Epilogue" pitchFamily="34" charset="-122"/>
                  <a:cs typeface="Epilogue" pitchFamily="34" charset="-120"/>
                </a:rPr>
                <a:t> view demonstrates that "JOB_IMPACT" patterns achieved one of the highest success rates in the pipeline. This confirms that employment-related claims in source texts are structured, clear, and highly reliable for decision-making processes.</a:t>
              </a:r>
              <a:endParaRPr lang="en-US" sz="1250" dirty="0"/>
            </a:p>
          </p:txBody>
        </p:sp>
        <p:sp>
          <p:nvSpPr>
            <p:cNvPr id="22" name="Shape 17"/>
            <p:cNvSpPr/>
            <p:nvPr/>
          </p:nvSpPr>
          <p:spPr>
            <a:xfrm>
              <a:off x="7397234" y="4153533"/>
              <a:ext cx="6107751" cy="84926"/>
            </a:xfrm>
            <a:prstGeom prst="roundRect">
              <a:avLst>
                <a:gd name="adj" fmla="val 75437"/>
              </a:avLst>
            </a:prstGeom>
            <a:solidFill>
              <a:srgbClr val="8C98CA"/>
            </a:solidFill>
            <a:ln/>
          </p:spPr>
        </p:sp>
        <p:sp>
          <p:nvSpPr>
            <p:cNvPr id="25" name="Text 19"/>
            <p:cNvSpPr/>
            <p:nvPr/>
          </p:nvSpPr>
          <p:spPr>
            <a:xfrm>
              <a:off x="7584281" y="4337629"/>
              <a:ext cx="2124897" cy="238299"/>
            </a:xfrm>
            <a:prstGeom prst="rect">
              <a:avLst/>
            </a:prstGeom>
            <a:noFill/>
            <a:ln/>
          </p:spPr>
          <p:txBody>
            <a:bodyPr wrap="none" lIns="0" tIns="0" rIns="0" bIns="0" rtlCol="0" anchor="t"/>
            <a:lstStyle/>
            <a:p>
              <a:pPr marL="0" indent="0" algn="l">
                <a:lnSpc>
                  <a:spcPts val="2000"/>
                </a:lnSpc>
                <a:buNone/>
              </a:pPr>
              <a:r>
                <a:rPr lang="en-US" sz="1600" dirty="0">
                  <a:solidFill>
                    <a:srgbClr val="EBECEF"/>
                  </a:solidFill>
                  <a:latin typeface="Fraunces Medium" pitchFamily="34" charset="0"/>
                  <a:ea typeface="Fraunces Medium" pitchFamily="34" charset="-122"/>
                  <a:cs typeface="Fraunces Medium" pitchFamily="34" charset="-120"/>
                </a:rPr>
                <a:t>Complex Dependencies</a:t>
              </a:r>
              <a:endParaRPr lang="en-US" sz="1600" dirty="0"/>
            </a:p>
          </p:txBody>
        </p:sp>
        <p:sp>
          <p:nvSpPr>
            <p:cNvPr id="26" name="Text 20"/>
            <p:cNvSpPr/>
            <p:nvPr/>
          </p:nvSpPr>
          <p:spPr>
            <a:xfrm>
              <a:off x="7584281" y="4730534"/>
              <a:ext cx="5760310" cy="731816"/>
            </a:xfrm>
            <a:prstGeom prst="rect">
              <a:avLst/>
            </a:prstGeom>
            <a:noFill/>
            <a:ln/>
          </p:spPr>
          <p:txBody>
            <a:bodyPr wrap="square" lIns="0" tIns="0" rIns="0" bIns="0" rtlCol="0" anchor="t"/>
            <a:lstStyle/>
            <a:p>
              <a:pPr>
                <a:lnSpc>
                  <a:spcPts val="2050"/>
                </a:lnSpc>
              </a:pPr>
              <a:r>
                <a:rPr lang="en-US" sz="1250" dirty="0">
                  <a:solidFill>
                    <a:schemeClr val="bg1"/>
                  </a:solidFill>
                  <a:latin typeface="Epilogue" panose="020B0604020202020204" charset="0"/>
                </a:rPr>
                <a:t>The high score for "Dependency Analysis" proves that AI impact is rarely simple. The data describes complex changes to daily workflows, confirming that AI is </a:t>
              </a:r>
              <a:r>
                <a:rPr lang="en-US" sz="1250" b="1" dirty="0">
                  <a:solidFill>
                    <a:schemeClr val="bg1"/>
                  </a:solidFill>
                  <a:latin typeface="Epilogue" panose="020B0604020202020204" charset="0"/>
                </a:rPr>
                <a:t>reshaping roles rather than just replacing them</a:t>
              </a:r>
              <a:r>
                <a:rPr lang="en-US" sz="1250" dirty="0">
                  <a:solidFill>
                    <a:schemeClr val="bg1"/>
                  </a:solidFill>
                  <a:latin typeface="Epilogue" panose="020B0604020202020204" charset="0"/>
                </a:rPr>
                <a:t>.</a:t>
              </a:r>
            </a:p>
          </p:txBody>
        </p:sp>
        <p:pic>
          <p:nvPicPr>
            <p:cNvPr id="37" name="Image 2" descr="preencoded.png">
              <a:extLst>
                <a:ext uri="{FF2B5EF4-FFF2-40B4-BE49-F238E27FC236}">
                  <a16:creationId xmlns:a16="http://schemas.microsoft.com/office/drawing/2014/main" id="{5985B028-9413-3CB7-E86C-EFC53B5E18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6314" y="3835835"/>
              <a:ext cx="183009" cy="183009"/>
            </a:xfrm>
            <a:prstGeom prst="rect">
              <a:avLst/>
            </a:prstGeom>
          </p:spPr>
        </p:pic>
        <p:sp>
          <p:nvSpPr>
            <p:cNvPr id="38" name="Shape 13">
              <a:extLst>
                <a:ext uri="{FF2B5EF4-FFF2-40B4-BE49-F238E27FC236}">
                  <a16:creationId xmlns:a16="http://schemas.microsoft.com/office/drawing/2014/main" id="{0722FC4D-0D55-EAC9-DEC9-C38AF053B7DD}"/>
                </a:ext>
              </a:extLst>
            </p:cNvPr>
            <p:cNvSpPr/>
            <p:nvPr/>
          </p:nvSpPr>
          <p:spPr>
            <a:xfrm>
              <a:off x="3698558" y="3957157"/>
              <a:ext cx="457579" cy="457579"/>
            </a:xfrm>
            <a:prstGeom prst="roundRect">
              <a:avLst>
                <a:gd name="adj" fmla="val 185597"/>
              </a:avLst>
            </a:prstGeom>
            <a:solidFill>
              <a:srgbClr val="8C98CA"/>
            </a:solidFill>
            <a:ln/>
          </p:spPr>
        </p:sp>
        <p:pic>
          <p:nvPicPr>
            <p:cNvPr id="39" name="Image 2" descr="preencoded.png">
              <a:extLst>
                <a:ext uri="{FF2B5EF4-FFF2-40B4-BE49-F238E27FC236}">
                  <a16:creationId xmlns:a16="http://schemas.microsoft.com/office/drawing/2014/main" id="{3DD97098-A04D-CE6A-7DDE-1B08EE089A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46314" y="4083848"/>
              <a:ext cx="183009" cy="183009"/>
            </a:xfrm>
            <a:prstGeom prst="rect">
              <a:avLst/>
            </a:prstGeom>
          </p:spPr>
        </p:pic>
        <p:sp>
          <p:nvSpPr>
            <p:cNvPr id="40" name="Shape 18">
              <a:extLst>
                <a:ext uri="{FF2B5EF4-FFF2-40B4-BE49-F238E27FC236}">
                  <a16:creationId xmlns:a16="http://schemas.microsoft.com/office/drawing/2014/main" id="{D7670881-7836-2106-ECAF-D6A3ECE33DEC}"/>
                </a:ext>
              </a:extLst>
            </p:cNvPr>
            <p:cNvSpPr/>
            <p:nvPr/>
          </p:nvSpPr>
          <p:spPr>
            <a:xfrm>
              <a:off x="10439043" y="4006847"/>
              <a:ext cx="457579" cy="457579"/>
            </a:xfrm>
            <a:prstGeom prst="roundRect">
              <a:avLst>
                <a:gd name="adj" fmla="val 185597"/>
              </a:avLst>
            </a:prstGeom>
            <a:solidFill>
              <a:srgbClr val="8C98CA"/>
            </a:solidFill>
            <a:ln/>
          </p:spPr>
        </p:sp>
        <p:pic>
          <p:nvPicPr>
            <p:cNvPr id="41" name="Image 3" descr="preencoded.png">
              <a:extLst>
                <a:ext uri="{FF2B5EF4-FFF2-40B4-BE49-F238E27FC236}">
                  <a16:creationId xmlns:a16="http://schemas.microsoft.com/office/drawing/2014/main" id="{73250202-AFA5-4DF6-2C33-4624463147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586799" y="4133539"/>
              <a:ext cx="183009" cy="183009"/>
            </a:xfrm>
            <a:prstGeom prst="rect">
              <a:avLst/>
            </a:prstGeom>
          </p:spPr>
        </p:pic>
      </p:grpSp>
      <p:grpSp>
        <p:nvGrpSpPr>
          <p:cNvPr id="35" name="Group 34">
            <a:extLst>
              <a:ext uri="{FF2B5EF4-FFF2-40B4-BE49-F238E27FC236}">
                <a16:creationId xmlns:a16="http://schemas.microsoft.com/office/drawing/2014/main" id="{E93318DF-89AC-F1BC-D204-1FF2C3D26607}"/>
              </a:ext>
            </a:extLst>
          </p:cNvPr>
          <p:cNvGrpSpPr/>
          <p:nvPr/>
        </p:nvGrpSpPr>
        <p:grpSpPr>
          <a:xfrm>
            <a:off x="656868" y="6376552"/>
            <a:ext cx="11049462" cy="1363820"/>
            <a:chOff x="656868" y="6096714"/>
            <a:chExt cx="13316664" cy="1643658"/>
          </a:xfrm>
        </p:grpSpPr>
        <p:sp>
          <p:nvSpPr>
            <p:cNvPr id="27" name="Shape 21"/>
            <p:cNvSpPr/>
            <p:nvPr/>
          </p:nvSpPr>
          <p:spPr>
            <a:xfrm>
              <a:off x="656868" y="6096714"/>
              <a:ext cx="13316664" cy="1643658"/>
            </a:xfrm>
            <a:prstGeom prst="roundRect">
              <a:avLst>
                <a:gd name="adj" fmla="val 4197"/>
              </a:avLst>
            </a:prstGeom>
            <a:solidFill>
              <a:srgbClr val="181E34"/>
            </a:solidFill>
            <a:ln/>
          </p:spPr>
        </p:sp>
        <p:pic>
          <p:nvPicPr>
            <p:cNvPr id="28" name="Image 4" descr="preencoded.png"/>
            <p:cNvPicPr>
              <a:picLocks noChangeAspect="1"/>
            </p:cNvPicPr>
            <p:nvPr/>
          </p:nvPicPr>
          <p:blipFill>
            <a:blip r:embed="rId11"/>
            <a:stretch>
              <a:fillRect/>
            </a:stretch>
          </p:blipFill>
          <p:spPr>
            <a:xfrm>
              <a:off x="821055" y="6320314"/>
              <a:ext cx="256580" cy="205264"/>
            </a:xfrm>
            <a:prstGeom prst="rect">
              <a:avLst/>
            </a:prstGeom>
          </p:spPr>
        </p:pic>
        <p:sp>
          <p:nvSpPr>
            <p:cNvPr id="29" name="Text 22"/>
            <p:cNvSpPr/>
            <p:nvPr/>
          </p:nvSpPr>
          <p:spPr>
            <a:xfrm>
              <a:off x="1241822" y="6301859"/>
              <a:ext cx="2064544" cy="256580"/>
            </a:xfrm>
            <a:prstGeom prst="rect">
              <a:avLst/>
            </a:prstGeom>
            <a:noFill/>
            <a:ln/>
          </p:spPr>
          <p:txBody>
            <a:bodyPr wrap="none" lIns="0" tIns="0" rIns="0" bIns="0" rtlCol="0" anchor="t"/>
            <a:lstStyle/>
            <a:p>
              <a:pPr marL="0" indent="0" algn="l">
                <a:lnSpc>
                  <a:spcPts val="2000"/>
                </a:lnSpc>
                <a:buNone/>
              </a:pPr>
              <a:r>
                <a:rPr lang="en-US" sz="1600" dirty="0">
                  <a:solidFill>
                    <a:srgbClr val="FFFFFF"/>
                  </a:solidFill>
                  <a:latin typeface="Fraunces Medium" pitchFamily="34" charset="0"/>
                  <a:ea typeface="Fraunces Medium" pitchFamily="34" charset="-122"/>
                  <a:cs typeface="Fraunces Medium" pitchFamily="34" charset="-120"/>
                </a:rPr>
                <a:t>Strategic Implication</a:t>
              </a:r>
              <a:endParaRPr lang="en-US" sz="1600" dirty="0"/>
            </a:p>
          </p:txBody>
        </p:sp>
        <p:sp>
          <p:nvSpPr>
            <p:cNvPr id="30" name="Text 23"/>
            <p:cNvSpPr/>
            <p:nvPr/>
          </p:nvSpPr>
          <p:spPr>
            <a:xfrm>
              <a:off x="1241822" y="6722626"/>
              <a:ext cx="12567523" cy="787956"/>
            </a:xfrm>
            <a:prstGeom prst="rect">
              <a:avLst/>
            </a:prstGeom>
            <a:noFill/>
            <a:ln/>
          </p:spPr>
          <p:txBody>
            <a:bodyPr wrap="square" lIns="0" tIns="0" rIns="0" bIns="0" rtlCol="0" anchor="t"/>
            <a:lstStyle/>
            <a:p>
              <a:pPr marL="0" indent="0" algn="l">
                <a:lnSpc>
                  <a:spcPts val="2050"/>
                </a:lnSpc>
                <a:buNone/>
              </a:pPr>
              <a:r>
                <a:rPr lang="en-US" sz="1250" dirty="0">
                  <a:solidFill>
                    <a:srgbClr val="FFFFFF"/>
                  </a:solidFill>
                  <a:latin typeface="Epilogue" pitchFamily="34" charset="0"/>
                  <a:ea typeface="Epilogue" pitchFamily="34" charset="-122"/>
                  <a:cs typeface="Epilogue" pitchFamily="34" charset="-120"/>
                </a:rPr>
                <a:t>The convergence of high "Job Impact" pattern recognition and a "Front-Loaded" temporal timeline suggests that organizations must prioritize immediate reskilling strategies (1-3 year horizon) rather than waiting for long-term theoretical shifts. Proactive measures are crucial for navigating this period of rapid change.</a:t>
              </a:r>
              <a:endParaRPr lang="en-US" sz="1250" dirty="0"/>
            </a:p>
          </p:txBody>
        </p:sp>
      </p:grpSp>
      <p:sp>
        <p:nvSpPr>
          <p:cNvPr id="31" name="Rectangle 30">
            <a:extLst>
              <a:ext uri="{FF2B5EF4-FFF2-40B4-BE49-F238E27FC236}">
                <a16:creationId xmlns:a16="http://schemas.microsoft.com/office/drawing/2014/main" id="{92C3343F-C478-A1DF-F8B7-739DAEBFE997}"/>
              </a:ext>
            </a:extLst>
          </p:cNvPr>
          <p:cNvSpPr/>
          <p:nvPr/>
        </p:nvSpPr>
        <p:spPr>
          <a:xfrm>
            <a:off x="12821697" y="7797520"/>
            <a:ext cx="1678074" cy="365761"/>
          </a:xfrm>
          <a:prstGeom prst="rect">
            <a:avLst/>
          </a:prstGeom>
          <a:solidFill>
            <a:srgbClr val="080E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3" name="Picture 42">
            <a:extLst>
              <a:ext uri="{FF2B5EF4-FFF2-40B4-BE49-F238E27FC236}">
                <a16:creationId xmlns:a16="http://schemas.microsoft.com/office/drawing/2014/main" id="{7A8217AC-BBA3-CD9D-9708-BB030169F0C3}"/>
              </a:ext>
            </a:extLst>
          </p:cNvPr>
          <p:cNvPicPr>
            <a:picLocks noChangeAspect="1"/>
          </p:cNvPicPr>
          <p:nvPr/>
        </p:nvPicPr>
        <p:blipFill>
          <a:blip r:embed="rId12"/>
          <a:stretch>
            <a:fillRect/>
          </a:stretch>
        </p:blipFill>
        <p:spPr>
          <a:xfrm>
            <a:off x="10036339" y="1239259"/>
            <a:ext cx="4135704" cy="2431701"/>
          </a:xfrm>
          <a:prstGeom prst="rect">
            <a:avLst/>
          </a:prstGeom>
        </p:spPr>
      </p:pic>
      <p:pic>
        <p:nvPicPr>
          <p:cNvPr id="45" name="Picture 44">
            <a:extLst>
              <a:ext uri="{FF2B5EF4-FFF2-40B4-BE49-F238E27FC236}">
                <a16:creationId xmlns:a16="http://schemas.microsoft.com/office/drawing/2014/main" id="{B9C0A10E-2D25-5179-AA78-5D1D06D6C1F2}"/>
              </a:ext>
            </a:extLst>
          </p:cNvPr>
          <p:cNvPicPr>
            <a:picLocks noChangeAspect="1"/>
          </p:cNvPicPr>
          <p:nvPr/>
        </p:nvPicPr>
        <p:blipFill>
          <a:blip r:embed="rId13"/>
          <a:stretch>
            <a:fillRect/>
          </a:stretch>
        </p:blipFill>
        <p:spPr>
          <a:xfrm>
            <a:off x="10054388" y="3851346"/>
            <a:ext cx="4068572" cy="23688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CEC14E-88AC-0323-4CBC-D331A87FD789}"/>
              </a:ext>
            </a:extLst>
          </p:cNvPr>
          <p:cNvSpPr/>
          <p:nvPr/>
        </p:nvSpPr>
        <p:spPr>
          <a:xfrm>
            <a:off x="12821697" y="7797520"/>
            <a:ext cx="1678074" cy="365761"/>
          </a:xfrm>
          <a:prstGeom prst="rect">
            <a:avLst/>
          </a:prstGeom>
          <a:solidFill>
            <a:srgbClr val="080E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0">
            <a:extLst>
              <a:ext uri="{FF2B5EF4-FFF2-40B4-BE49-F238E27FC236}">
                <a16:creationId xmlns:a16="http://schemas.microsoft.com/office/drawing/2014/main" id="{99E2DBF2-0335-B541-991B-3F626280298F}"/>
              </a:ext>
            </a:extLst>
          </p:cNvPr>
          <p:cNvSpPr/>
          <p:nvPr/>
        </p:nvSpPr>
        <p:spPr>
          <a:xfrm>
            <a:off x="1897975" y="3858161"/>
            <a:ext cx="10834449" cy="513278"/>
          </a:xfrm>
          <a:prstGeom prst="rect">
            <a:avLst/>
          </a:prstGeom>
          <a:noFill/>
          <a:ln/>
        </p:spPr>
        <p:txBody>
          <a:bodyPr wrap="none" lIns="0" tIns="0" rIns="0" bIns="0" rtlCol="0" anchor="t"/>
          <a:lstStyle/>
          <a:p>
            <a:pPr marL="0" indent="0" algn="ctr">
              <a:lnSpc>
                <a:spcPts val="4000"/>
              </a:lnSpc>
              <a:buNone/>
            </a:pPr>
            <a:r>
              <a:rPr lang="en-US" sz="3200" dirty="0">
                <a:solidFill>
                  <a:srgbClr val="FFB011"/>
                </a:solidFill>
                <a:latin typeface="Fraunces Medium" pitchFamily="34" charset="0"/>
                <a:ea typeface="Fraunces Medium" pitchFamily="34" charset="-122"/>
                <a:cs typeface="Fraunces Medium" pitchFamily="34" charset="-120"/>
              </a:rPr>
              <a:t>How to Access the Dashboard</a:t>
            </a:r>
            <a:endParaRPr lang="en-US" sz="3200" dirty="0">
              <a:solidFill>
                <a:srgbClr val="FFB011"/>
              </a:solidFill>
            </a:endParaRPr>
          </a:p>
        </p:txBody>
      </p:sp>
    </p:spTree>
    <p:extLst>
      <p:ext uri="{BB962C8B-B14F-4D97-AF65-F5344CB8AC3E}">
        <p14:creationId xmlns:p14="http://schemas.microsoft.com/office/powerpoint/2010/main" val="4261448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2330D-D48C-04BE-CD19-869CC1D2A36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EEEB56-8D2E-4247-9D57-3DEE453B0B97}"/>
              </a:ext>
            </a:extLst>
          </p:cNvPr>
          <p:cNvSpPr/>
          <p:nvPr/>
        </p:nvSpPr>
        <p:spPr>
          <a:xfrm>
            <a:off x="12821697" y="7797520"/>
            <a:ext cx="1678074" cy="365761"/>
          </a:xfrm>
          <a:prstGeom prst="rect">
            <a:avLst/>
          </a:prstGeom>
          <a:solidFill>
            <a:srgbClr val="080E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 5">
            <a:extLst>
              <a:ext uri="{FF2B5EF4-FFF2-40B4-BE49-F238E27FC236}">
                <a16:creationId xmlns:a16="http://schemas.microsoft.com/office/drawing/2014/main" id="{5F5217EE-7A55-90D4-8FAD-6CD244458EE8}"/>
              </a:ext>
            </a:extLst>
          </p:cNvPr>
          <p:cNvSpPr/>
          <p:nvPr/>
        </p:nvSpPr>
        <p:spPr>
          <a:xfrm>
            <a:off x="714721" y="1068650"/>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1:</a:t>
            </a:r>
          </a:p>
          <a:p>
            <a:pPr>
              <a:lnSpc>
                <a:spcPts val="2050"/>
              </a:lnSpc>
            </a:pPr>
            <a:r>
              <a:rPr lang="en-US" sz="1250" dirty="0">
                <a:solidFill>
                  <a:srgbClr val="EBECEF"/>
                </a:solidFill>
                <a:latin typeface="Epilogue" pitchFamily="34" charset="0"/>
              </a:rPr>
              <a:t>Click the link to open </a:t>
            </a:r>
            <a:r>
              <a:rPr lang="en-US" sz="1250" dirty="0" err="1">
                <a:solidFill>
                  <a:srgbClr val="EBECEF"/>
                </a:solidFill>
                <a:latin typeface="Epilogue" pitchFamily="34" charset="0"/>
              </a:rPr>
              <a:t>Codesandbox</a:t>
            </a:r>
            <a:r>
              <a:rPr lang="en-US" sz="1250" dirty="0">
                <a:solidFill>
                  <a:srgbClr val="EBECEF"/>
                </a:solidFill>
                <a:latin typeface="Epilogue" pitchFamily="34" charset="0"/>
              </a:rPr>
              <a:t> - </a:t>
            </a:r>
            <a:r>
              <a:rPr lang="en-US" sz="1250" dirty="0" err="1">
                <a:solidFill>
                  <a:srgbClr val="EBECEF"/>
                </a:solidFill>
                <a:latin typeface="Epilogue" pitchFamily="34" charset="0"/>
                <a:hlinkClick r:id="rId2"/>
              </a:rPr>
              <a:t>Nexorix_Dashboard</a:t>
            </a:r>
            <a:endParaRPr lang="en-US" sz="1250" dirty="0"/>
          </a:p>
        </p:txBody>
      </p:sp>
      <p:sp>
        <p:nvSpPr>
          <p:cNvPr id="5" name="Text 5">
            <a:extLst>
              <a:ext uri="{FF2B5EF4-FFF2-40B4-BE49-F238E27FC236}">
                <a16:creationId xmlns:a16="http://schemas.microsoft.com/office/drawing/2014/main" id="{C56C0970-B3B7-D95D-3379-5F57C9F23C4F}"/>
              </a:ext>
            </a:extLst>
          </p:cNvPr>
          <p:cNvSpPr/>
          <p:nvPr/>
        </p:nvSpPr>
        <p:spPr>
          <a:xfrm>
            <a:off x="714721" y="2263197"/>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2:</a:t>
            </a:r>
          </a:p>
          <a:p>
            <a:pPr>
              <a:lnSpc>
                <a:spcPts val="2050"/>
              </a:lnSpc>
            </a:pPr>
            <a:r>
              <a:rPr lang="en-US" sz="1250" dirty="0">
                <a:solidFill>
                  <a:schemeClr val="bg1"/>
                </a:solidFill>
                <a:latin typeface="Epilogue" panose="020B0604020202020204" charset="0"/>
              </a:rPr>
              <a:t>You will be asked to login using a </a:t>
            </a:r>
            <a:r>
              <a:rPr lang="en-US" sz="1250" dirty="0" err="1">
                <a:solidFill>
                  <a:schemeClr val="bg1"/>
                </a:solidFill>
                <a:latin typeface="Epilogue" panose="020B0604020202020204" charset="0"/>
              </a:rPr>
              <a:t>Codesandbox</a:t>
            </a:r>
            <a:r>
              <a:rPr lang="en-US" sz="1250" dirty="0">
                <a:solidFill>
                  <a:schemeClr val="bg1"/>
                </a:solidFill>
                <a:latin typeface="Epilogue" panose="020B0604020202020204" charset="0"/>
              </a:rPr>
              <a:t> account. If you do not have one, please create an account as you can’t access the dashboard without one. </a:t>
            </a:r>
          </a:p>
        </p:txBody>
      </p:sp>
      <p:pic>
        <p:nvPicPr>
          <p:cNvPr id="7" name="Picture 6">
            <a:extLst>
              <a:ext uri="{FF2B5EF4-FFF2-40B4-BE49-F238E27FC236}">
                <a16:creationId xmlns:a16="http://schemas.microsoft.com/office/drawing/2014/main" id="{B6E93D53-27D7-B6DF-E637-DB79B3495719}"/>
              </a:ext>
            </a:extLst>
          </p:cNvPr>
          <p:cNvPicPr>
            <a:picLocks noChangeAspect="1"/>
          </p:cNvPicPr>
          <p:nvPr/>
        </p:nvPicPr>
        <p:blipFill>
          <a:blip r:embed="rId3"/>
          <a:stretch>
            <a:fillRect/>
          </a:stretch>
        </p:blipFill>
        <p:spPr>
          <a:xfrm>
            <a:off x="8342062" y="1682918"/>
            <a:ext cx="4791133" cy="2431882"/>
          </a:xfrm>
          <a:prstGeom prst="rect">
            <a:avLst/>
          </a:prstGeom>
        </p:spPr>
      </p:pic>
      <p:cxnSp>
        <p:nvCxnSpPr>
          <p:cNvPr id="9" name="Straight Arrow Connector 8">
            <a:extLst>
              <a:ext uri="{FF2B5EF4-FFF2-40B4-BE49-F238E27FC236}">
                <a16:creationId xmlns:a16="http://schemas.microsoft.com/office/drawing/2014/main" id="{B3541BA2-0F3A-387E-D490-FFDC4CB995A4}"/>
              </a:ext>
            </a:extLst>
          </p:cNvPr>
          <p:cNvCxnSpPr>
            <a:cxnSpLocks/>
          </p:cNvCxnSpPr>
          <p:nvPr/>
        </p:nvCxnSpPr>
        <p:spPr>
          <a:xfrm flipV="1">
            <a:off x="8920480" y="3733800"/>
            <a:ext cx="0" cy="3810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1" name="Text 5">
            <a:extLst>
              <a:ext uri="{FF2B5EF4-FFF2-40B4-BE49-F238E27FC236}">
                <a16:creationId xmlns:a16="http://schemas.microsoft.com/office/drawing/2014/main" id="{16B3362C-1803-7C05-DCDD-07C70E7B5EE4}"/>
              </a:ext>
            </a:extLst>
          </p:cNvPr>
          <p:cNvSpPr/>
          <p:nvPr/>
        </p:nvSpPr>
        <p:spPr>
          <a:xfrm>
            <a:off x="714721" y="5175466"/>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3:</a:t>
            </a:r>
          </a:p>
          <a:p>
            <a:pPr>
              <a:lnSpc>
                <a:spcPts val="2050"/>
              </a:lnSpc>
            </a:pPr>
            <a:r>
              <a:rPr lang="en-US" sz="1250" dirty="0">
                <a:solidFill>
                  <a:schemeClr val="bg1"/>
                </a:solidFill>
                <a:latin typeface="Epilogue" panose="020B0604020202020204" charset="0"/>
              </a:rPr>
              <a:t>Once you sign in, you’ll be met with a similar screen. This is our repository with all the codes. It is a shared space. </a:t>
            </a:r>
            <a:r>
              <a:rPr lang="en-US" sz="1250" b="1" u="sng" dirty="0">
                <a:solidFill>
                  <a:schemeClr val="bg1"/>
                </a:solidFill>
                <a:latin typeface="Epilogue" panose="020B0604020202020204" charset="0"/>
              </a:rPr>
              <a:t>Please do not make any changes to it</a:t>
            </a:r>
            <a:r>
              <a:rPr lang="en-US" sz="1250" dirty="0">
                <a:solidFill>
                  <a:schemeClr val="bg1"/>
                </a:solidFill>
                <a:latin typeface="Epilogue" panose="020B0604020202020204" charset="0"/>
              </a:rPr>
              <a:t>. Hit FORK present at the top right of the page. That will transfer the repo to your own personal space.</a:t>
            </a:r>
          </a:p>
        </p:txBody>
      </p:sp>
      <p:pic>
        <p:nvPicPr>
          <p:cNvPr id="13" name="Picture 12">
            <a:extLst>
              <a:ext uri="{FF2B5EF4-FFF2-40B4-BE49-F238E27FC236}">
                <a16:creationId xmlns:a16="http://schemas.microsoft.com/office/drawing/2014/main" id="{4A2EBE4E-8148-C811-4BF4-C98D0CBE3903}"/>
              </a:ext>
            </a:extLst>
          </p:cNvPr>
          <p:cNvPicPr>
            <a:picLocks noChangeAspect="1"/>
          </p:cNvPicPr>
          <p:nvPr/>
        </p:nvPicPr>
        <p:blipFill>
          <a:blip r:embed="rId4"/>
          <a:stretch>
            <a:fillRect/>
          </a:stretch>
        </p:blipFill>
        <p:spPr>
          <a:xfrm>
            <a:off x="8182388" y="4672140"/>
            <a:ext cx="4791122" cy="2426770"/>
          </a:xfrm>
          <a:prstGeom prst="rect">
            <a:avLst/>
          </a:prstGeom>
        </p:spPr>
      </p:pic>
      <p:cxnSp>
        <p:nvCxnSpPr>
          <p:cNvPr id="14" name="Straight Arrow Connector 13">
            <a:extLst>
              <a:ext uri="{FF2B5EF4-FFF2-40B4-BE49-F238E27FC236}">
                <a16:creationId xmlns:a16="http://schemas.microsoft.com/office/drawing/2014/main" id="{A939DBB5-2EC2-6A4D-BE8C-561509D3BF56}"/>
              </a:ext>
            </a:extLst>
          </p:cNvPr>
          <p:cNvCxnSpPr>
            <a:cxnSpLocks/>
          </p:cNvCxnSpPr>
          <p:nvPr/>
        </p:nvCxnSpPr>
        <p:spPr>
          <a:xfrm flipV="1">
            <a:off x="12821697" y="4794466"/>
            <a:ext cx="0" cy="3810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pic>
        <p:nvPicPr>
          <p:cNvPr id="16" name="Picture 15">
            <a:extLst>
              <a:ext uri="{FF2B5EF4-FFF2-40B4-BE49-F238E27FC236}">
                <a16:creationId xmlns:a16="http://schemas.microsoft.com/office/drawing/2014/main" id="{F43781B7-E473-17D8-EE16-3432CE9C1D80}"/>
              </a:ext>
            </a:extLst>
          </p:cNvPr>
          <p:cNvPicPr>
            <a:picLocks noChangeAspect="1"/>
          </p:cNvPicPr>
          <p:nvPr/>
        </p:nvPicPr>
        <p:blipFill>
          <a:blip r:embed="rId5"/>
          <a:stretch>
            <a:fillRect/>
          </a:stretch>
        </p:blipFill>
        <p:spPr>
          <a:xfrm>
            <a:off x="13133195" y="4984966"/>
            <a:ext cx="1322548" cy="447529"/>
          </a:xfrm>
          <a:prstGeom prst="rect">
            <a:avLst/>
          </a:prstGeom>
        </p:spPr>
      </p:pic>
      <p:sp>
        <p:nvSpPr>
          <p:cNvPr id="17" name="Rectangle 16">
            <a:extLst>
              <a:ext uri="{FF2B5EF4-FFF2-40B4-BE49-F238E27FC236}">
                <a16:creationId xmlns:a16="http://schemas.microsoft.com/office/drawing/2014/main" id="{0513CF04-D3F2-1141-4BDF-DC907613798C}"/>
              </a:ext>
            </a:extLst>
          </p:cNvPr>
          <p:cNvSpPr/>
          <p:nvPr/>
        </p:nvSpPr>
        <p:spPr>
          <a:xfrm>
            <a:off x="12212320" y="4592320"/>
            <a:ext cx="761187" cy="221090"/>
          </a:xfrm>
          <a:prstGeom prst="rect">
            <a:avLst/>
          </a:prstGeom>
          <a:noFill/>
          <a:ln>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id="{C7099B3E-94AD-C798-A42D-0975EFA0E8CE}"/>
              </a:ext>
            </a:extLst>
          </p:cNvPr>
          <p:cNvCxnSpPr>
            <a:stCxn id="17" idx="3"/>
          </p:cNvCxnSpPr>
          <p:nvPr/>
        </p:nvCxnSpPr>
        <p:spPr>
          <a:xfrm>
            <a:off x="12973507" y="4702865"/>
            <a:ext cx="264973" cy="631135"/>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Straight Connector 19">
            <a:extLst>
              <a:ext uri="{FF2B5EF4-FFF2-40B4-BE49-F238E27FC236}">
                <a16:creationId xmlns:a16="http://schemas.microsoft.com/office/drawing/2014/main" id="{B4B69B66-8D5F-3925-28B5-45119E58B6BF}"/>
              </a:ext>
            </a:extLst>
          </p:cNvPr>
          <p:cNvCxnSpPr>
            <a:cxnSpLocks/>
          </p:cNvCxnSpPr>
          <p:nvPr/>
        </p:nvCxnSpPr>
        <p:spPr>
          <a:xfrm>
            <a:off x="12973507" y="4577595"/>
            <a:ext cx="1482236" cy="404150"/>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256328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2B3C9-E750-EEEF-3E7C-C209B08DDFA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B6D0DE9-1AF0-6C50-0B34-97A428627CE0}"/>
              </a:ext>
            </a:extLst>
          </p:cNvPr>
          <p:cNvSpPr/>
          <p:nvPr/>
        </p:nvSpPr>
        <p:spPr>
          <a:xfrm>
            <a:off x="12821697" y="7797520"/>
            <a:ext cx="1678074" cy="365761"/>
          </a:xfrm>
          <a:prstGeom prst="rect">
            <a:avLst/>
          </a:prstGeom>
          <a:solidFill>
            <a:srgbClr val="080E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 5">
            <a:extLst>
              <a:ext uri="{FF2B5EF4-FFF2-40B4-BE49-F238E27FC236}">
                <a16:creationId xmlns:a16="http://schemas.microsoft.com/office/drawing/2014/main" id="{B0A020EC-837F-920E-E457-C3B5229194E1}"/>
              </a:ext>
            </a:extLst>
          </p:cNvPr>
          <p:cNvSpPr/>
          <p:nvPr/>
        </p:nvSpPr>
        <p:spPr>
          <a:xfrm>
            <a:off x="542001" y="745706"/>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4:</a:t>
            </a:r>
          </a:p>
          <a:p>
            <a:pPr>
              <a:lnSpc>
                <a:spcPts val="2050"/>
              </a:lnSpc>
            </a:pPr>
            <a:r>
              <a:rPr lang="en-US" sz="1250" dirty="0">
                <a:solidFill>
                  <a:schemeClr val="bg1"/>
                </a:solidFill>
                <a:latin typeface="Epilogue" panose="020B0604020202020204" charset="0"/>
              </a:rPr>
              <a:t>Once you hit fork, you should be seeing the following screen. If on the right side, you see “Preview 8010”, click it. If perchance you do not see the “Preview 8010” button, go to </a:t>
            </a:r>
            <a:r>
              <a:rPr lang="en-US" sz="1250" b="1" dirty="0">
                <a:solidFill>
                  <a:srgbClr val="FF0000"/>
                </a:solidFill>
                <a:latin typeface="Epilogue" panose="020B0604020202020204" charset="0"/>
              </a:rPr>
              <a:t>Step 7</a:t>
            </a:r>
            <a:r>
              <a:rPr lang="en-US" sz="1250" b="1" dirty="0">
                <a:solidFill>
                  <a:schemeClr val="bg1"/>
                </a:solidFill>
                <a:latin typeface="Epilogue" panose="020B0604020202020204" charset="0"/>
              </a:rPr>
              <a:t>.</a:t>
            </a:r>
            <a:endParaRPr lang="en-US" sz="1250" b="1" dirty="0">
              <a:solidFill>
                <a:srgbClr val="FF0000"/>
              </a:solidFill>
              <a:latin typeface="Epilogue" panose="020B0604020202020204" charset="0"/>
            </a:endParaRPr>
          </a:p>
        </p:txBody>
      </p:sp>
      <p:pic>
        <p:nvPicPr>
          <p:cNvPr id="6" name="Picture 5">
            <a:extLst>
              <a:ext uri="{FF2B5EF4-FFF2-40B4-BE49-F238E27FC236}">
                <a16:creationId xmlns:a16="http://schemas.microsoft.com/office/drawing/2014/main" id="{A9A1F2E9-B86B-AE7E-3C92-90B8C1FDDD34}"/>
              </a:ext>
            </a:extLst>
          </p:cNvPr>
          <p:cNvPicPr>
            <a:picLocks noChangeAspect="1"/>
          </p:cNvPicPr>
          <p:nvPr/>
        </p:nvPicPr>
        <p:blipFill>
          <a:blip r:embed="rId2"/>
          <a:stretch>
            <a:fillRect/>
          </a:stretch>
        </p:blipFill>
        <p:spPr>
          <a:xfrm>
            <a:off x="8432800" y="238769"/>
            <a:ext cx="4704080" cy="2250310"/>
          </a:xfrm>
          <a:prstGeom prst="rect">
            <a:avLst/>
          </a:prstGeom>
        </p:spPr>
      </p:pic>
      <p:sp>
        <p:nvSpPr>
          <p:cNvPr id="7" name="Text 5">
            <a:extLst>
              <a:ext uri="{FF2B5EF4-FFF2-40B4-BE49-F238E27FC236}">
                <a16:creationId xmlns:a16="http://schemas.microsoft.com/office/drawing/2014/main" id="{3F37A5E3-EDCD-DA4E-83F9-A82CF772DB82}"/>
              </a:ext>
            </a:extLst>
          </p:cNvPr>
          <p:cNvSpPr/>
          <p:nvPr/>
        </p:nvSpPr>
        <p:spPr>
          <a:xfrm>
            <a:off x="542001" y="3519386"/>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5:</a:t>
            </a:r>
          </a:p>
          <a:p>
            <a:pPr>
              <a:lnSpc>
                <a:spcPts val="2050"/>
              </a:lnSpc>
            </a:pPr>
            <a:r>
              <a:rPr lang="en-US" sz="1250" dirty="0">
                <a:solidFill>
                  <a:schemeClr val="bg1"/>
                </a:solidFill>
                <a:latin typeface="Epilogue" panose="020B0604020202020204" charset="0"/>
              </a:rPr>
              <a:t>Once you hit Preview, you’ll be seeing the dashboard app on the right side of the screen. Click the top right icon to open the whole app in a new tab on your browser.</a:t>
            </a:r>
          </a:p>
        </p:txBody>
      </p:sp>
      <p:sp>
        <p:nvSpPr>
          <p:cNvPr id="8" name="Text 5">
            <a:extLst>
              <a:ext uri="{FF2B5EF4-FFF2-40B4-BE49-F238E27FC236}">
                <a16:creationId xmlns:a16="http://schemas.microsoft.com/office/drawing/2014/main" id="{FCA0AEFD-0077-C4D4-3E30-19AB3AFC6585}"/>
              </a:ext>
            </a:extLst>
          </p:cNvPr>
          <p:cNvSpPr/>
          <p:nvPr/>
        </p:nvSpPr>
        <p:spPr>
          <a:xfrm>
            <a:off x="542001" y="6130506"/>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6:</a:t>
            </a:r>
          </a:p>
          <a:p>
            <a:pPr>
              <a:lnSpc>
                <a:spcPts val="2050"/>
              </a:lnSpc>
            </a:pPr>
            <a:r>
              <a:rPr lang="en-US" sz="1250" dirty="0">
                <a:solidFill>
                  <a:schemeClr val="bg1"/>
                </a:solidFill>
                <a:latin typeface="Epilogue" panose="020B0604020202020204" charset="0"/>
              </a:rPr>
              <a:t>You now have access to the dashboard app. If it does not look like this on your browser it is likely zoomed in. Zoom out to 80% (using Ctrl – [minus]) to view the full dashboard.</a:t>
            </a:r>
          </a:p>
        </p:txBody>
      </p:sp>
      <p:pic>
        <p:nvPicPr>
          <p:cNvPr id="10" name="Picture 9">
            <a:extLst>
              <a:ext uri="{FF2B5EF4-FFF2-40B4-BE49-F238E27FC236}">
                <a16:creationId xmlns:a16="http://schemas.microsoft.com/office/drawing/2014/main" id="{7521F0AA-0186-F835-EF44-E1D995BA66A3}"/>
              </a:ext>
            </a:extLst>
          </p:cNvPr>
          <p:cNvPicPr>
            <a:picLocks noChangeAspect="1"/>
          </p:cNvPicPr>
          <p:nvPr/>
        </p:nvPicPr>
        <p:blipFill>
          <a:blip r:embed="rId3"/>
          <a:stretch>
            <a:fillRect/>
          </a:stretch>
        </p:blipFill>
        <p:spPr>
          <a:xfrm>
            <a:off x="8432800" y="5566476"/>
            <a:ext cx="4886960" cy="2364494"/>
          </a:xfrm>
          <a:prstGeom prst="rect">
            <a:avLst/>
          </a:prstGeom>
        </p:spPr>
      </p:pic>
      <p:pic>
        <p:nvPicPr>
          <p:cNvPr id="12" name="Picture 11">
            <a:extLst>
              <a:ext uri="{FF2B5EF4-FFF2-40B4-BE49-F238E27FC236}">
                <a16:creationId xmlns:a16="http://schemas.microsoft.com/office/drawing/2014/main" id="{709E0CB3-22D8-3DE9-7909-7F647AC84C3B}"/>
              </a:ext>
            </a:extLst>
          </p:cNvPr>
          <p:cNvPicPr>
            <a:picLocks noChangeAspect="1"/>
          </p:cNvPicPr>
          <p:nvPr/>
        </p:nvPicPr>
        <p:blipFill>
          <a:blip r:embed="rId4"/>
          <a:stretch>
            <a:fillRect/>
          </a:stretch>
        </p:blipFill>
        <p:spPr>
          <a:xfrm>
            <a:off x="8432800" y="2902622"/>
            <a:ext cx="2899967" cy="2250311"/>
          </a:xfrm>
          <a:prstGeom prst="rect">
            <a:avLst/>
          </a:prstGeom>
        </p:spPr>
      </p:pic>
      <p:cxnSp>
        <p:nvCxnSpPr>
          <p:cNvPr id="13" name="Straight Arrow Connector 12">
            <a:extLst>
              <a:ext uri="{FF2B5EF4-FFF2-40B4-BE49-F238E27FC236}">
                <a16:creationId xmlns:a16="http://schemas.microsoft.com/office/drawing/2014/main" id="{2DC0686C-D4DA-467A-6F5E-C99F0449B9D9}"/>
              </a:ext>
            </a:extLst>
          </p:cNvPr>
          <p:cNvCxnSpPr>
            <a:cxnSpLocks/>
          </p:cNvCxnSpPr>
          <p:nvPr/>
        </p:nvCxnSpPr>
        <p:spPr>
          <a:xfrm flipV="1">
            <a:off x="12313697" y="852386"/>
            <a:ext cx="0" cy="3810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3AD93102-007F-1154-3214-0D7AF24CA928}"/>
              </a:ext>
            </a:extLst>
          </p:cNvPr>
          <p:cNvCxnSpPr>
            <a:cxnSpLocks/>
          </p:cNvCxnSpPr>
          <p:nvPr/>
        </p:nvCxnSpPr>
        <p:spPr>
          <a:xfrm flipV="1">
            <a:off x="11226577" y="3239986"/>
            <a:ext cx="0" cy="38100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5" name="Oval 14">
            <a:extLst>
              <a:ext uri="{FF2B5EF4-FFF2-40B4-BE49-F238E27FC236}">
                <a16:creationId xmlns:a16="http://schemas.microsoft.com/office/drawing/2014/main" id="{5BE47273-92D2-D1F4-598A-CB5D58D1A0C2}"/>
              </a:ext>
            </a:extLst>
          </p:cNvPr>
          <p:cNvSpPr/>
          <p:nvPr/>
        </p:nvSpPr>
        <p:spPr>
          <a:xfrm>
            <a:off x="11130057" y="3046946"/>
            <a:ext cx="193040" cy="193040"/>
          </a:xfrm>
          <a:prstGeom prst="ellipse">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690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DB024-87A5-26C8-CEAF-D367B31D7EB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11E4E5D-D733-AA1C-BB5C-4A839FDC7F0F}"/>
              </a:ext>
            </a:extLst>
          </p:cNvPr>
          <p:cNvSpPr/>
          <p:nvPr/>
        </p:nvSpPr>
        <p:spPr>
          <a:xfrm>
            <a:off x="12821697" y="7797520"/>
            <a:ext cx="1678074" cy="365761"/>
          </a:xfrm>
          <a:prstGeom prst="rect">
            <a:avLst/>
          </a:prstGeom>
          <a:solidFill>
            <a:srgbClr val="080E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 5">
            <a:extLst>
              <a:ext uri="{FF2B5EF4-FFF2-40B4-BE49-F238E27FC236}">
                <a16:creationId xmlns:a16="http://schemas.microsoft.com/office/drawing/2014/main" id="{6566C2BC-03BF-AC4A-348A-45166C3C09BB}"/>
              </a:ext>
            </a:extLst>
          </p:cNvPr>
          <p:cNvSpPr/>
          <p:nvPr/>
        </p:nvSpPr>
        <p:spPr>
          <a:xfrm>
            <a:off x="542001" y="745706"/>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7:</a:t>
            </a:r>
          </a:p>
          <a:p>
            <a:pPr>
              <a:lnSpc>
                <a:spcPts val="2050"/>
              </a:lnSpc>
            </a:pPr>
            <a:r>
              <a:rPr lang="en-US" sz="1250" dirty="0">
                <a:solidFill>
                  <a:schemeClr val="bg1"/>
                </a:solidFill>
                <a:latin typeface="Epilogue" panose="020B0604020202020204" charset="0"/>
              </a:rPr>
              <a:t>If you DO NOT see the Preview 8010 button on the right side of the screen, click on the terminal on the bottom, and hit Enter on your keyboard. It will make the terminal go away on your screen.</a:t>
            </a:r>
            <a:endParaRPr lang="en-US" sz="1250" b="1" dirty="0">
              <a:solidFill>
                <a:srgbClr val="FF0000"/>
              </a:solidFill>
              <a:latin typeface="Epilogue" panose="020B0604020202020204" charset="0"/>
            </a:endParaRPr>
          </a:p>
        </p:txBody>
      </p:sp>
      <p:sp>
        <p:nvSpPr>
          <p:cNvPr id="5" name="Text 5">
            <a:extLst>
              <a:ext uri="{FF2B5EF4-FFF2-40B4-BE49-F238E27FC236}">
                <a16:creationId xmlns:a16="http://schemas.microsoft.com/office/drawing/2014/main" id="{040D1501-6166-3271-6F80-3F2D45E1FAFB}"/>
              </a:ext>
            </a:extLst>
          </p:cNvPr>
          <p:cNvSpPr/>
          <p:nvPr/>
        </p:nvSpPr>
        <p:spPr>
          <a:xfrm>
            <a:off x="542001" y="3215386"/>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8:</a:t>
            </a:r>
          </a:p>
          <a:p>
            <a:pPr>
              <a:lnSpc>
                <a:spcPts val="2050"/>
              </a:lnSpc>
            </a:pPr>
            <a:r>
              <a:rPr lang="en-US" sz="1250" dirty="0">
                <a:solidFill>
                  <a:schemeClr val="bg1"/>
                </a:solidFill>
                <a:latin typeface="Epilogue" panose="020B0604020202020204" charset="0"/>
              </a:rPr>
              <a:t>Now, click main.py on the left side of the screen.</a:t>
            </a:r>
            <a:endParaRPr lang="en-US" sz="1250" b="1" dirty="0">
              <a:solidFill>
                <a:srgbClr val="FF0000"/>
              </a:solidFill>
              <a:latin typeface="Epilogue" panose="020B0604020202020204" charset="0"/>
            </a:endParaRPr>
          </a:p>
        </p:txBody>
      </p:sp>
      <p:sp>
        <p:nvSpPr>
          <p:cNvPr id="6" name="Text 5">
            <a:extLst>
              <a:ext uri="{FF2B5EF4-FFF2-40B4-BE49-F238E27FC236}">
                <a16:creationId xmlns:a16="http://schemas.microsoft.com/office/drawing/2014/main" id="{E28F488C-B015-B16C-6664-0E15EC6848DF}"/>
              </a:ext>
            </a:extLst>
          </p:cNvPr>
          <p:cNvSpPr/>
          <p:nvPr/>
        </p:nvSpPr>
        <p:spPr>
          <a:xfrm>
            <a:off x="525365" y="6079595"/>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9</a:t>
            </a:r>
          </a:p>
          <a:p>
            <a:pPr>
              <a:lnSpc>
                <a:spcPts val="2050"/>
              </a:lnSpc>
            </a:pPr>
            <a:r>
              <a:rPr lang="en-US" sz="1250" dirty="0">
                <a:solidFill>
                  <a:schemeClr val="bg1"/>
                </a:solidFill>
                <a:latin typeface="Epilogue" panose="020B0604020202020204" charset="0"/>
              </a:rPr>
              <a:t>Now, click on the sideway triangle button to run the code. </a:t>
            </a:r>
            <a:endParaRPr lang="en-US" sz="1250" b="1" dirty="0">
              <a:solidFill>
                <a:srgbClr val="FF0000"/>
              </a:solidFill>
              <a:latin typeface="Epilogue" panose="020B0604020202020204" charset="0"/>
            </a:endParaRPr>
          </a:p>
        </p:txBody>
      </p:sp>
      <p:pic>
        <p:nvPicPr>
          <p:cNvPr id="8" name="Picture 7">
            <a:extLst>
              <a:ext uri="{FF2B5EF4-FFF2-40B4-BE49-F238E27FC236}">
                <a16:creationId xmlns:a16="http://schemas.microsoft.com/office/drawing/2014/main" id="{DE449BB3-1959-B845-F9F1-36359E2815DC}"/>
              </a:ext>
            </a:extLst>
          </p:cNvPr>
          <p:cNvPicPr>
            <a:picLocks noChangeAspect="1"/>
          </p:cNvPicPr>
          <p:nvPr/>
        </p:nvPicPr>
        <p:blipFill>
          <a:blip r:embed="rId2"/>
          <a:stretch>
            <a:fillRect/>
          </a:stretch>
        </p:blipFill>
        <p:spPr>
          <a:xfrm>
            <a:off x="7934960" y="211030"/>
            <a:ext cx="4551457" cy="2224542"/>
          </a:xfrm>
          <a:prstGeom prst="rect">
            <a:avLst/>
          </a:prstGeom>
        </p:spPr>
      </p:pic>
      <p:pic>
        <p:nvPicPr>
          <p:cNvPr id="10" name="Picture 9">
            <a:extLst>
              <a:ext uri="{FF2B5EF4-FFF2-40B4-BE49-F238E27FC236}">
                <a16:creationId xmlns:a16="http://schemas.microsoft.com/office/drawing/2014/main" id="{EB2B338E-5D2D-3597-C00A-2062AF1AAEC7}"/>
              </a:ext>
            </a:extLst>
          </p:cNvPr>
          <p:cNvPicPr>
            <a:picLocks noChangeAspect="1"/>
          </p:cNvPicPr>
          <p:nvPr/>
        </p:nvPicPr>
        <p:blipFill>
          <a:blip r:embed="rId3"/>
          <a:stretch>
            <a:fillRect/>
          </a:stretch>
        </p:blipFill>
        <p:spPr>
          <a:xfrm>
            <a:off x="5240349" y="1992183"/>
            <a:ext cx="970061" cy="3631873"/>
          </a:xfrm>
          <a:prstGeom prst="rect">
            <a:avLst/>
          </a:prstGeom>
        </p:spPr>
      </p:pic>
      <p:pic>
        <p:nvPicPr>
          <p:cNvPr id="12" name="Picture 11">
            <a:extLst>
              <a:ext uri="{FF2B5EF4-FFF2-40B4-BE49-F238E27FC236}">
                <a16:creationId xmlns:a16="http://schemas.microsoft.com/office/drawing/2014/main" id="{53B779CB-4400-61E0-8ADD-E6A7278C6E2A}"/>
              </a:ext>
            </a:extLst>
          </p:cNvPr>
          <p:cNvPicPr>
            <a:picLocks noChangeAspect="1"/>
          </p:cNvPicPr>
          <p:nvPr/>
        </p:nvPicPr>
        <p:blipFill>
          <a:blip r:embed="rId4"/>
          <a:stretch>
            <a:fillRect/>
          </a:stretch>
        </p:blipFill>
        <p:spPr>
          <a:xfrm>
            <a:off x="7934960" y="4800223"/>
            <a:ext cx="4053841" cy="3333158"/>
          </a:xfrm>
          <a:prstGeom prst="rect">
            <a:avLst/>
          </a:prstGeom>
        </p:spPr>
      </p:pic>
    </p:spTree>
    <p:extLst>
      <p:ext uri="{BB962C8B-B14F-4D97-AF65-F5344CB8AC3E}">
        <p14:creationId xmlns:p14="http://schemas.microsoft.com/office/powerpoint/2010/main" val="13914118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E2D15-8AA6-D7C7-C537-BCF928683B3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1DA194-5383-C30B-47ED-84A3EA02AC5D}"/>
              </a:ext>
            </a:extLst>
          </p:cNvPr>
          <p:cNvSpPr/>
          <p:nvPr/>
        </p:nvSpPr>
        <p:spPr>
          <a:xfrm>
            <a:off x="12821697" y="7797520"/>
            <a:ext cx="1678074" cy="365761"/>
          </a:xfrm>
          <a:prstGeom prst="rect">
            <a:avLst/>
          </a:prstGeom>
          <a:solidFill>
            <a:srgbClr val="080E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 5">
            <a:extLst>
              <a:ext uri="{FF2B5EF4-FFF2-40B4-BE49-F238E27FC236}">
                <a16:creationId xmlns:a16="http://schemas.microsoft.com/office/drawing/2014/main" id="{5CD0990B-24DA-CCA9-C186-EEACF9AB67CD}"/>
              </a:ext>
            </a:extLst>
          </p:cNvPr>
          <p:cNvSpPr/>
          <p:nvPr/>
        </p:nvSpPr>
        <p:spPr>
          <a:xfrm>
            <a:off x="383125" y="1491384"/>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10:</a:t>
            </a:r>
          </a:p>
          <a:p>
            <a:pPr>
              <a:lnSpc>
                <a:spcPts val="2050"/>
              </a:lnSpc>
            </a:pPr>
            <a:r>
              <a:rPr lang="en-US" sz="1250" dirty="0">
                <a:solidFill>
                  <a:schemeClr val="bg1"/>
                </a:solidFill>
                <a:latin typeface="Epilogue" panose="020B0604020202020204" charset="0"/>
              </a:rPr>
              <a:t>When you hit the sideway triangle button, you will be prompted with an error “no module named pandas” in the terminal. Do not worry, that is supposed to happen. Now, type in “</a:t>
            </a:r>
            <a:r>
              <a:rPr lang="en-US" sz="1250" b="1" dirty="0">
                <a:solidFill>
                  <a:schemeClr val="bg1"/>
                </a:solidFill>
                <a:latin typeface="Epilogue" panose="020B0604020202020204" charset="0"/>
              </a:rPr>
              <a:t>python main.py</a:t>
            </a:r>
            <a:r>
              <a:rPr lang="en-US" sz="1250" dirty="0">
                <a:solidFill>
                  <a:schemeClr val="bg1"/>
                </a:solidFill>
                <a:latin typeface="Epilogue" panose="020B0604020202020204" charset="0"/>
              </a:rPr>
              <a:t>” in the terminal and hit Enter on the keyboard. </a:t>
            </a:r>
            <a:endParaRPr lang="en-US" sz="1250" b="1" dirty="0">
              <a:solidFill>
                <a:srgbClr val="FF0000"/>
              </a:solidFill>
              <a:latin typeface="Epilogue" panose="020B0604020202020204" charset="0"/>
            </a:endParaRPr>
          </a:p>
        </p:txBody>
      </p:sp>
      <p:sp>
        <p:nvSpPr>
          <p:cNvPr id="5" name="Text 5">
            <a:extLst>
              <a:ext uri="{FF2B5EF4-FFF2-40B4-BE49-F238E27FC236}">
                <a16:creationId xmlns:a16="http://schemas.microsoft.com/office/drawing/2014/main" id="{FEB75D6C-97B9-9915-4F97-BA2E7F1ADA03}"/>
              </a:ext>
            </a:extLst>
          </p:cNvPr>
          <p:cNvSpPr/>
          <p:nvPr/>
        </p:nvSpPr>
        <p:spPr>
          <a:xfrm>
            <a:off x="383125" y="4423078"/>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11:</a:t>
            </a:r>
          </a:p>
          <a:p>
            <a:pPr>
              <a:lnSpc>
                <a:spcPts val="2050"/>
              </a:lnSpc>
            </a:pPr>
            <a:r>
              <a:rPr lang="en-US" sz="1250" dirty="0">
                <a:solidFill>
                  <a:schemeClr val="bg1"/>
                </a:solidFill>
                <a:latin typeface="Epilogue" panose="020B0604020202020204" charset="0"/>
              </a:rPr>
              <a:t>Once you hit Enter, the code will begin executing. It will take a minute for it to start running. Once the dashboard goes live, you will have a small window popup on the right bottom corner. Hit “</a:t>
            </a:r>
            <a:r>
              <a:rPr lang="en-US" sz="1250" b="1" dirty="0">
                <a:solidFill>
                  <a:schemeClr val="bg1"/>
                </a:solidFill>
                <a:latin typeface="Epilogue" panose="020B0604020202020204" charset="0"/>
              </a:rPr>
              <a:t>Open Externally”</a:t>
            </a:r>
            <a:r>
              <a:rPr lang="en-US" sz="1250" dirty="0">
                <a:solidFill>
                  <a:schemeClr val="bg1"/>
                </a:solidFill>
                <a:latin typeface="Epilogue" panose="020B0604020202020204" charset="0"/>
              </a:rPr>
              <a:t> to open the dashboard in a new tab on your browser.</a:t>
            </a:r>
            <a:endParaRPr lang="en-US" sz="1250" b="1" dirty="0">
              <a:solidFill>
                <a:srgbClr val="FF0000"/>
              </a:solidFill>
              <a:latin typeface="Epilogue" panose="020B0604020202020204" charset="0"/>
            </a:endParaRPr>
          </a:p>
        </p:txBody>
      </p:sp>
      <p:sp>
        <p:nvSpPr>
          <p:cNvPr id="6" name="Text 5">
            <a:extLst>
              <a:ext uri="{FF2B5EF4-FFF2-40B4-BE49-F238E27FC236}">
                <a16:creationId xmlns:a16="http://schemas.microsoft.com/office/drawing/2014/main" id="{8C2ECDA0-685B-ACCA-BC5F-14F2B3746552}"/>
              </a:ext>
            </a:extLst>
          </p:cNvPr>
          <p:cNvSpPr/>
          <p:nvPr/>
        </p:nvSpPr>
        <p:spPr>
          <a:xfrm>
            <a:off x="383124" y="6721811"/>
            <a:ext cx="6932075" cy="790938"/>
          </a:xfrm>
          <a:prstGeom prst="rect">
            <a:avLst/>
          </a:prstGeom>
          <a:noFill/>
          <a:ln/>
        </p:spPr>
        <p:txBody>
          <a:bodyPr wrap="square" lIns="0" tIns="0" rIns="0" bIns="0" rtlCol="0" anchor="t"/>
          <a:lstStyle/>
          <a:p>
            <a:pPr marL="0" indent="0" algn="l">
              <a:lnSpc>
                <a:spcPts val="2050"/>
              </a:lnSpc>
              <a:buNone/>
            </a:pPr>
            <a:r>
              <a:rPr lang="en-US" sz="1250" dirty="0">
                <a:solidFill>
                  <a:srgbClr val="EBECEF"/>
                </a:solidFill>
                <a:latin typeface="Epilogue" pitchFamily="34" charset="0"/>
                <a:ea typeface="Epilogue" pitchFamily="34" charset="-122"/>
                <a:cs typeface="Epilogue" pitchFamily="34" charset="-120"/>
              </a:rPr>
              <a:t>Step 12:</a:t>
            </a:r>
          </a:p>
          <a:p>
            <a:pPr>
              <a:lnSpc>
                <a:spcPts val="2050"/>
              </a:lnSpc>
            </a:pPr>
            <a:r>
              <a:rPr lang="en-US" sz="1250" dirty="0">
                <a:solidFill>
                  <a:schemeClr val="bg1"/>
                </a:solidFill>
                <a:latin typeface="Epilogue" panose="020B0604020202020204" charset="0"/>
              </a:rPr>
              <a:t>And there you have it. You can now access the dashboard fully, and even get visualizations for your own uploads. If the screen is too zoomed in, and it doesn’t look like the one shown here, zoom out to 80% using “Ctrl – [minus]”.</a:t>
            </a:r>
            <a:endParaRPr lang="en-US" sz="1250" b="1" dirty="0">
              <a:solidFill>
                <a:srgbClr val="FF0000"/>
              </a:solidFill>
              <a:latin typeface="Epilogue" panose="020B0604020202020204" charset="0"/>
            </a:endParaRPr>
          </a:p>
        </p:txBody>
      </p:sp>
      <p:pic>
        <p:nvPicPr>
          <p:cNvPr id="7" name="Picture 6">
            <a:extLst>
              <a:ext uri="{FF2B5EF4-FFF2-40B4-BE49-F238E27FC236}">
                <a16:creationId xmlns:a16="http://schemas.microsoft.com/office/drawing/2014/main" id="{D112B70E-E8DB-0535-8432-A96EFE822CAC}"/>
              </a:ext>
            </a:extLst>
          </p:cNvPr>
          <p:cNvPicPr>
            <a:picLocks noChangeAspect="1"/>
          </p:cNvPicPr>
          <p:nvPr/>
        </p:nvPicPr>
        <p:blipFill>
          <a:blip r:embed="rId2"/>
          <a:stretch>
            <a:fillRect/>
          </a:stretch>
        </p:blipFill>
        <p:spPr>
          <a:xfrm>
            <a:off x="7474076" y="264821"/>
            <a:ext cx="4626485" cy="2448158"/>
          </a:xfrm>
          <a:prstGeom prst="rect">
            <a:avLst/>
          </a:prstGeom>
        </p:spPr>
      </p:pic>
      <p:pic>
        <p:nvPicPr>
          <p:cNvPr id="11" name="Picture 10">
            <a:extLst>
              <a:ext uri="{FF2B5EF4-FFF2-40B4-BE49-F238E27FC236}">
                <a16:creationId xmlns:a16="http://schemas.microsoft.com/office/drawing/2014/main" id="{0F4E8265-08AD-2D2F-F88C-D1B695AF14F4}"/>
              </a:ext>
            </a:extLst>
          </p:cNvPr>
          <p:cNvPicPr>
            <a:picLocks noChangeAspect="1"/>
          </p:cNvPicPr>
          <p:nvPr/>
        </p:nvPicPr>
        <p:blipFill>
          <a:blip r:embed="rId3"/>
          <a:stretch>
            <a:fillRect/>
          </a:stretch>
        </p:blipFill>
        <p:spPr>
          <a:xfrm>
            <a:off x="7457440" y="2834640"/>
            <a:ext cx="5674509" cy="1097624"/>
          </a:xfrm>
          <a:prstGeom prst="rect">
            <a:avLst/>
          </a:prstGeom>
        </p:spPr>
      </p:pic>
      <p:pic>
        <p:nvPicPr>
          <p:cNvPr id="14" name="Picture 13">
            <a:extLst>
              <a:ext uri="{FF2B5EF4-FFF2-40B4-BE49-F238E27FC236}">
                <a16:creationId xmlns:a16="http://schemas.microsoft.com/office/drawing/2014/main" id="{6AE29BB8-71B4-7A5D-E819-880A59D0F309}"/>
              </a:ext>
            </a:extLst>
          </p:cNvPr>
          <p:cNvPicPr>
            <a:picLocks noChangeAspect="1"/>
          </p:cNvPicPr>
          <p:nvPr/>
        </p:nvPicPr>
        <p:blipFill>
          <a:blip r:embed="rId4"/>
          <a:stretch>
            <a:fillRect/>
          </a:stretch>
        </p:blipFill>
        <p:spPr>
          <a:xfrm>
            <a:off x="7457440" y="4366230"/>
            <a:ext cx="5727797" cy="1097625"/>
          </a:xfrm>
          <a:prstGeom prst="rect">
            <a:avLst/>
          </a:prstGeom>
        </p:spPr>
      </p:pic>
      <p:pic>
        <p:nvPicPr>
          <p:cNvPr id="15" name="Picture 14">
            <a:extLst>
              <a:ext uri="{FF2B5EF4-FFF2-40B4-BE49-F238E27FC236}">
                <a16:creationId xmlns:a16="http://schemas.microsoft.com/office/drawing/2014/main" id="{2F87D03E-BD34-5CC8-D0C1-1AB5719844DD}"/>
              </a:ext>
            </a:extLst>
          </p:cNvPr>
          <p:cNvPicPr>
            <a:picLocks noChangeAspect="1"/>
          </p:cNvPicPr>
          <p:nvPr/>
        </p:nvPicPr>
        <p:blipFill>
          <a:blip r:embed="rId5"/>
          <a:stretch>
            <a:fillRect/>
          </a:stretch>
        </p:blipFill>
        <p:spPr>
          <a:xfrm>
            <a:off x="7474076" y="5798787"/>
            <a:ext cx="4886960" cy="2364494"/>
          </a:xfrm>
          <a:prstGeom prst="rect">
            <a:avLst/>
          </a:prstGeom>
        </p:spPr>
      </p:pic>
    </p:spTree>
    <p:extLst>
      <p:ext uri="{BB962C8B-B14F-4D97-AF65-F5344CB8AC3E}">
        <p14:creationId xmlns:p14="http://schemas.microsoft.com/office/powerpoint/2010/main" val="3656671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1248</Words>
  <Application>Microsoft Office PowerPoint</Application>
  <PresentationFormat>Custom</PresentationFormat>
  <Paragraphs>61</Paragraphs>
  <Slides>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Fraunces Medium</vt:lpstr>
      <vt:lpstr>Epilogue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Tribhuvan Yakkala</cp:lastModifiedBy>
  <cp:revision>5</cp:revision>
  <dcterms:created xsi:type="dcterms:W3CDTF">2025-11-21T14:29:00Z</dcterms:created>
  <dcterms:modified xsi:type="dcterms:W3CDTF">2025-11-21T19:54:22Z</dcterms:modified>
</cp:coreProperties>
</file>